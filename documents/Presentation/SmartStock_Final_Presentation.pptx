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rchivo Black" panose="020B0604020202020204" charset="0"/>
      <p:regular r:id="rId16"/>
    </p:embeddedFont>
    <p:embeddedFont>
      <p:font typeface="Montserrat" panose="00000500000000000000" pitchFamily="2" charset="0"/>
      <p:regular r:id="rId17"/>
    </p:embeddedFont>
    <p:embeddedFont>
      <p:font typeface="Montserrat Bold" panose="020B0604020202020204" charset="0"/>
      <p:regular r:id="rId18"/>
    </p:embeddedFont>
    <p:embeddedFont>
      <p:font typeface="Times New Roman Bold" panose="02020803070505020304" pitchFamily="18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2.sv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27691" y="746607"/>
            <a:ext cx="3142818" cy="3160055"/>
          </a:xfrm>
          <a:custGeom>
            <a:avLst/>
            <a:gdLst/>
            <a:ahLst/>
            <a:cxnLst/>
            <a:rect l="l" t="t" r="r" b="b"/>
            <a:pathLst>
              <a:path w="3142818" h="3160055">
                <a:moveTo>
                  <a:pt x="0" y="0"/>
                </a:moveTo>
                <a:lnTo>
                  <a:pt x="3142818" y="0"/>
                </a:lnTo>
                <a:lnTo>
                  <a:pt x="3142818" y="3160055"/>
                </a:lnTo>
                <a:lnTo>
                  <a:pt x="0" y="3160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04639" y="746607"/>
            <a:ext cx="3142818" cy="3160055"/>
          </a:xfrm>
          <a:custGeom>
            <a:avLst/>
            <a:gdLst/>
            <a:ahLst/>
            <a:cxnLst/>
            <a:rect l="l" t="t" r="r" b="b"/>
            <a:pathLst>
              <a:path w="3142818" h="3160055">
                <a:moveTo>
                  <a:pt x="0" y="0"/>
                </a:moveTo>
                <a:lnTo>
                  <a:pt x="3142818" y="0"/>
                </a:lnTo>
                <a:lnTo>
                  <a:pt x="3142818" y="3160055"/>
                </a:lnTo>
                <a:lnTo>
                  <a:pt x="0" y="3160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535490" y="3485037"/>
            <a:ext cx="6592677" cy="6659270"/>
          </a:xfrm>
          <a:custGeom>
            <a:avLst/>
            <a:gdLst/>
            <a:ahLst/>
            <a:cxnLst/>
            <a:rect l="l" t="t" r="r" b="b"/>
            <a:pathLst>
              <a:path w="6592677" h="6659270">
                <a:moveTo>
                  <a:pt x="0" y="0"/>
                </a:moveTo>
                <a:lnTo>
                  <a:pt x="6592677" y="0"/>
                </a:lnTo>
                <a:lnTo>
                  <a:pt x="6592677" y="6659270"/>
                </a:lnTo>
                <a:lnTo>
                  <a:pt x="0" y="66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89313" y="403225"/>
            <a:ext cx="11135575" cy="4293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39"/>
              </a:lnSpc>
            </a:pPr>
            <a:r>
              <a:rPr lang="en-US" sz="7672" b="1" spc="-2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Smart  Stock </a:t>
            </a:r>
          </a:p>
          <a:p>
            <a:pPr algn="l">
              <a:lnSpc>
                <a:spcPts val="8439"/>
              </a:lnSpc>
            </a:pPr>
            <a:r>
              <a:rPr lang="en-US" sz="7672" b="1" spc="-2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Inventory Optimization for </a:t>
            </a:r>
          </a:p>
          <a:p>
            <a:pPr algn="l">
              <a:lnSpc>
                <a:spcPts val="8439"/>
              </a:lnSpc>
            </a:pPr>
            <a:r>
              <a:rPr lang="en-US" sz="7672" b="1" spc="-2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Retail Stores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715743" y="355600"/>
            <a:ext cx="3911366" cy="103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sz="2499" b="1" spc="-9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ENHANCING BUSINESS EFFICIENCY THROUGH STREAMLINED STOCKS.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6298433"/>
            <a:ext cx="8094378" cy="1833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9"/>
              </a:lnSpc>
            </a:pPr>
            <a:endParaRPr/>
          </a:p>
          <a:p>
            <a:pPr marL="561337" lvl="1" indent="-280669" algn="just">
              <a:lnSpc>
                <a:spcPts val="2859"/>
              </a:lnSpc>
              <a:buAutoNum type="arabicPeriod"/>
            </a:pPr>
            <a:r>
              <a:rPr lang="en-US" sz="2599" spc="-10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Vaishnavi Potu- Database Management</a:t>
            </a:r>
          </a:p>
          <a:p>
            <a:pPr marL="561337" lvl="1" indent="-280669" algn="just">
              <a:lnSpc>
                <a:spcPts val="2859"/>
              </a:lnSpc>
              <a:buAutoNum type="arabicPeriod"/>
            </a:pPr>
            <a:r>
              <a:rPr lang="en-US" sz="2599" spc="-10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Sivateja Somisetty- Backend &amp; Authentication</a:t>
            </a:r>
          </a:p>
          <a:p>
            <a:pPr marL="561337" lvl="1" indent="-280669" algn="just">
              <a:lnSpc>
                <a:spcPts val="2859"/>
              </a:lnSpc>
              <a:buAutoNum type="arabicPeriod"/>
            </a:pPr>
            <a:r>
              <a:rPr lang="en-US" sz="2599" spc="-10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Hephzibai- Frontend Developer</a:t>
            </a:r>
          </a:p>
          <a:p>
            <a:pPr marL="561337" lvl="1" indent="-280669" algn="just">
              <a:lnSpc>
                <a:spcPts val="2859"/>
              </a:lnSpc>
              <a:buAutoNum type="arabicPeriod"/>
            </a:pPr>
            <a:r>
              <a:rPr lang="en-US" sz="2599" spc="-10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Sahithya Kedala- ML training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176131" y="9733860"/>
            <a:ext cx="8094378" cy="38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9"/>
              </a:lnSpc>
            </a:pPr>
            <a:r>
              <a:rPr lang="en-US" sz="2599" spc="-10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By- Shakthi Gopalkrishnan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286" y="365700"/>
            <a:ext cx="3426426" cy="1141678"/>
            <a:chOff x="0" y="0"/>
            <a:chExt cx="902433" cy="3006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2433" cy="300689"/>
            </a:xfrm>
            <a:custGeom>
              <a:avLst/>
              <a:gdLst/>
              <a:ahLst/>
              <a:cxnLst/>
              <a:rect l="l" t="t" r="r" b="b"/>
              <a:pathLst>
                <a:path w="902433" h="300689">
                  <a:moveTo>
                    <a:pt x="115233" y="0"/>
                  </a:moveTo>
                  <a:lnTo>
                    <a:pt x="787200" y="0"/>
                  </a:lnTo>
                  <a:cubicBezTo>
                    <a:pt x="817762" y="0"/>
                    <a:pt x="847072" y="12141"/>
                    <a:pt x="868682" y="33751"/>
                  </a:cubicBezTo>
                  <a:cubicBezTo>
                    <a:pt x="890293" y="55361"/>
                    <a:pt x="902433" y="84671"/>
                    <a:pt x="902433" y="115233"/>
                  </a:cubicBezTo>
                  <a:lnTo>
                    <a:pt x="902433" y="185456"/>
                  </a:lnTo>
                  <a:cubicBezTo>
                    <a:pt x="902433" y="249097"/>
                    <a:pt x="850842" y="300689"/>
                    <a:pt x="787200" y="300689"/>
                  </a:cubicBezTo>
                  <a:lnTo>
                    <a:pt x="115233" y="300689"/>
                  </a:lnTo>
                  <a:cubicBezTo>
                    <a:pt x="51592" y="300689"/>
                    <a:pt x="0" y="249097"/>
                    <a:pt x="0" y="185456"/>
                  </a:cubicBezTo>
                  <a:lnTo>
                    <a:pt x="0" y="115233"/>
                  </a:lnTo>
                  <a:cubicBezTo>
                    <a:pt x="0" y="51592"/>
                    <a:pt x="51592" y="0"/>
                    <a:pt x="115233" y="0"/>
                  </a:cubicBez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902433" cy="2721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795750" y="-28575"/>
            <a:ext cx="3142734" cy="3159970"/>
          </a:xfrm>
          <a:custGeom>
            <a:avLst/>
            <a:gdLst/>
            <a:ahLst/>
            <a:cxnLst/>
            <a:rect l="l" t="t" r="r" b="b"/>
            <a:pathLst>
              <a:path w="3142734" h="3159970">
                <a:moveTo>
                  <a:pt x="0" y="0"/>
                </a:moveTo>
                <a:lnTo>
                  <a:pt x="3142734" y="0"/>
                </a:lnTo>
                <a:lnTo>
                  <a:pt x="3142734" y="3159970"/>
                </a:lnTo>
                <a:lnTo>
                  <a:pt x="0" y="3159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075361" y="15913"/>
            <a:ext cx="3098488" cy="3115482"/>
          </a:xfrm>
          <a:custGeom>
            <a:avLst/>
            <a:gdLst/>
            <a:ahLst/>
            <a:cxnLst/>
            <a:rect l="l" t="t" r="r" b="b"/>
            <a:pathLst>
              <a:path w="3098488" h="3115482">
                <a:moveTo>
                  <a:pt x="0" y="0"/>
                </a:moveTo>
                <a:lnTo>
                  <a:pt x="3098488" y="0"/>
                </a:lnTo>
                <a:lnTo>
                  <a:pt x="3098488" y="3115482"/>
                </a:lnTo>
                <a:lnTo>
                  <a:pt x="0" y="3115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843513" y="5143500"/>
            <a:ext cx="9444487" cy="5372288"/>
          </a:xfrm>
          <a:custGeom>
            <a:avLst/>
            <a:gdLst/>
            <a:ahLst/>
            <a:cxnLst/>
            <a:rect l="l" t="t" r="r" b="b"/>
            <a:pathLst>
              <a:path w="9444487" h="5372288">
                <a:moveTo>
                  <a:pt x="0" y="0"/>
                </a:moveTo>
                <a:lnTo>
                  <a:pt x="9444487" y="0"/>
                </a:lnTo>
                <a:lnTo>
                  <a:pt x="9444487" y="5372288"/>
                </a:lnTo>
                <a:lnTo>
                  <a:pt x="0" y="5372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07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54535" y="441900"/>
            <a:ext cx="9251859" cy="124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2"/>
              </a:lnSpc>
            </a:pPr>
            <a:r>
              <a:rPr lang="en-US" sz="8729" b="1" spc="-3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8065" y="2222389"/>
            <a:ext cx="9404799" cy="345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2749"/>
              </a:lnSpc>
              <a:buFont typeface="Arial"/>
              <a:buChar char="•"/>
            </a:pPr>
            <a:r>
              <a:rPr lang="en-US" sz="2499" spc="-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today’s competitive retail environment, efficient inventory management is essential for maximizing profitability and customer satisfaction.</a:t>
            </a:r>
          </a:p>
          <a:p>
            <a:pPr algn="l">
              <a:lnSpc>
                <a:spcPts val="2749"/>
              </a:lnSpc>
            </a:pPr>
            <a:r>
              <a:rPr lang="en-US" sz="2499" spc="-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539748" lvl="1" indent="-269874" algn="l">
              <a:lnSpc>
                <a:spcPts val="2749"/>
              </a:lnSpc>
              <a:buFont typeface="Arial"/>
              <a:buChar char="•"/>
            </a:pPr>
            <a:r>
              <a:rPr lang="en-US" sz="2499" spc="-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introduces a Smart Inventory Optimization System that uses data analytics and machine learning to predict product demand and optimize stock levels. </a:t>
            </a:r>
          </a:p>
          <a:p>
            <a:pPr algn="l">
              <a:lnSpc>
                <a:spcPts val="2749"/>
              </a:lnSpc>
            </a:pPr>
            <a:endParaRPr lang="en-US" sz="2499" spc="-97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39748" lvl="1" indent="-269874" algn="l">
              <a:lnSpc>
                <a:spcPts val="2749"/>
              </a:lnSpc>
              <a:buFont typeface="Arial"/>
              <a:buChar char="•"/>
            </a:pPr>
            <a:r>
              <a:rPr lang="en-US" sz="2499" spc="-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software-based system reduces manual effort, making it a practical and scalable solution for modern retail management.</a:t>
            </a:r>
          </a:p>
          <a:p>
            <a:pPr algn="l">
              <a:lnSpc>
                <a:spcPts val="2749"/>
              </a:lnSpc>
            </a:pPr>
            <a:endParaRPr lang="en-US" sz="2499" spc="-97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08312"/>
            <a:ext cx="5538434" cy="1270564"/>
            <a:chOff x="0" y="0"/>
            <a:chExt cx="1458682" cy="3346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8682" cy="334634"/>
            </a:xfrm>
            <a:custGeom>
              <a:avLst/>
              <a:gdLst/>
              <a:ahLst/>
              <a:cxnLst/>
              <a:rect l="l" t="t" r="r" b="b"/>
              <a:pathLst>
                <a:path w="1458682" h="334634">
                  <a:moveTo>
                    <a:pt x="139785" y="0"/>
                  </a:moveTo>
                  <a:lnTo>
                    <a:pt x="1318897" y="0"/>
                  </a:lnTo>
                  <a:cubicBezTo>
                    <a:pt x="1355970" y="0"/>
                    <a:pt x="1391525" y="14727"/>
                    <a:pt x="1417740" y="40942"/>
                  </a:cubicBezTo>
                  <a:cubicBezTo>
                    <a:pt x="1443955" y="67157"/>
                    <a:pt x="1458682" y="102712"/>
                    <a:pt x="1458682" y="139785"/>
                  </a:cubicBezTo>
                  <a:lnTo>
                    <a:pt x="1458682" y="194849"/>
                  </a:lnTo>
                  <a:cubicBezTo>
                    <a:pt x="1458682" y="231922"/>
                    <a:pt x="1443955" y="267477"/>
                    <a:pt x="1417740" y="293692"/>
                  </a:cubicBezTo>
                  <a:cubicBezTo>
                    <a:pt x="1391525" y="319907"/>
                    <a:pt x="1355970" y="334634"/>
                    <a:pt x="1318897" y="334634"/>
                  </a:cubicBezTo>
                  <a:lnTo>
                    <a:pt x="139785" y="334634"/>
                  </a:lnTo>
                  <a:cubicBezTo>
                    <a:pt x="102712" y="334634"/>
                    <a:pt x="67157" y="319907"/>
                    <a:pt x="40942" y="293692"/>
                  </a:cubicBezTo>
                  <a:cubicBezTo>
                    <a:pt x="14727" y="267477"/>
                    <a:pt x="0" y="231922"/>
                    <a:pt x="0" y="194849"/>
                  </a:cubicBezTo>
                  <a:lnTo>
                    <a:pt x="0" y="139785"/>
                  </a:lnTo>
                  <a:cubicBezTo>
                    <a:pt x="0" y="102712"/>
                    <a:pt x="14727" y="67157"/>
                    <a:pt x="40942" y="40942"/>
                  </a:cubicBezTo>
                  <a:cubicBezTo>
                    <a:pt x="67157" y="14727"/>
                    <a:pt x="102712" y="0"/>
                    <a:pt x="139785" y="0"/>
                  </a:cubicBez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458682" cy="382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795750" y="-28575"/>
            <a:ext cx="2944291" cy="2960439"/>
          </a:xfrm>
          <a:custGeom>
            <a:avLst/>
            <a:gdLst/>
            <a:ahLst/>
            <a:cxnLst/>
            <a:rect l="l" t="t" r="r" b="b"/>
            <a:pathLst>
              <a:path w="2944291" h="2960439">
                <a:moveTo>
                  <a:pt x="0" y="0"/>
                </a:moveTo>
                <a:lnTo>
                  <a:pt x="2944291" y="0"/>
                </a:lnTo>
                <a:lnTo>
                  <a:pt x="2944291" y="2960439"/>
                </a:lnTo>
                <a:lnTo>
                  <a:pt x="0" y="2960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182498" y="-28575"/>
            <a:ext cx="2944291" cy="2960439"/>
          </a:xfrm>
          <a:custGeom>
            <a:avLst/>
            <a:gdLst/>
            <a:ahLst/>
            <a:cxnLst/>
            <a:rect l="l" t="t" r="r" b="b"/>
            <a:pathLst>
              <a:path w="2944291" h="2960439">
                <a:moveTo>
                  <a:pt x="0" y="0"/>
                </a:moveTo>
                <a:lnTo>
                  <a:pt x="2944291" y="0"/>
                </a:lnTo>
                <a:lnTo>
                  <a:pt x="2944291" y="2960439"/>
                </a:lnTo>
                <a:lnTo>
                  <a:pt x="0" y="2960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771202" y="1451644"/>
            <a:ext cx="2770491" cy="3754151"/>
          </a:xfrm>
          <a:custGeom>
            <a:avLst/>
            <a:gdLst/>
            <a:ahLst/>
            <a:cxnLst/>
            <a:rect l="l" t="t" r="r" b="b"/>
            <a:pathLst>
              <a:path w="2770491" h="3754151">
                <a:moveTo>
                  <a:pt x="0" y="0"/>
                </a:moveTo>
                <a:lnTo>
                  <a:pt x="2770491" y="0"/>
                </a:lnTo>
                <a:lnTo>
                  <a:pt x="2770491" y="3754151"/>
                </a:lnTo>
                <a:lnTo>
                  <a:pt x="0" y="3754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425786" y="2504580"/>
            <a:ext cx="2833514" cy="4103076"/>
          </a:xfrm>
          <a:custGeom>
            <a:avLst/>
            <a:gdLst/>
            <a:ahLst/>
            <a:cxnLst/>
            <a:rect l="l" t="t" r="r" b="b"/>
            <a:pathLst>
              <a:path w="2833514" h="4103076">
                <a:moveTo>
                  <a:pt x="0" y="0"/>
                </a:moveTo>
                <a:lnTo>
                  <a:pt x="2833514" y="0"/>
                </a:lnTo>
                <a:lnTo>
                  <a:pt x="2833514" y="4103076"/>
                </a:lnTo>
                <a:lnTo>
                  <a:pt x="0" y="41030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272939" y="5575948"/>
            <a:ext cx="2965747" cy="4219015"/>
          </a:xfrm>
          <a:custGeom>
            <a:avLst/>
            <a:gdLst/>
            <a:ahLst/>
            <a:cxnLst/>
            <a:rect l="l" t="t" r="r" b="b"/>
            <a:pathLst>
              <a:path w="2965747" h="4219015">
                <a:moveTo>
                  <a:pt x="0" y="0"/>
                </a:moveTo>
                <a:lnTo>
                  <a:pt x="2965747" y="0"/>
                </a:lnTo>
                <a:lnTo>
                  <a:pt x="2965747" y="4219014"/>
                </a:lnTo>
                <a:lnTo>
                  <a:pt x="0" y="42190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740386" y="5696958"/>
            <a:ext cx="3013239" cy="4098005"/>
          </a:xfrm>
          <a:custGeom>
            <a:avLst/>
            <a:gdLst/>
            <a:ahLst/>
            <a:cxnLst/>
            <a:rect l="l" t="t" r="r" b="b"/>
            <a:pathLst>
              <a:path w="3013239" h="4098005">
                <a:moveTo>
                  <a:pt x="0" y="0"/>
                </a:moveTo>
                <a:lnTo>
                  <a:pt x="3013239" y="0"/>
                </a:lnTo>
                <a:lnTo>
                  <a:pt x="3013239" y="4098004"/>
                </a:lnTo>
                <a:lnTo>
                  <a:pt x="0" y="40980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21942" y="229077"/>
            <a:ext cx="13938820" cy="124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2"/>
              </a:lnSpc>
            </a:pPr>
            <a:r>
              <a:rPr lang="en-US" sz="8729" b="1" spc="-3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1818152"/>
            <a:ext cx="8456020" cy="260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just">
              <a:lnSpc>
                <a:spcPts val="2859"/>
              </a:lnSpc>
              <a:buAutoNum type="arabicPeriod"/>
            </a:pPr>
            <a:r>
              <a:rPr lang="en-US" sz="2599" b="1" spc="-10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Frequent stock-outs</a:t>
            </a:r>
            <a:r>
              <a:rPr lang="en-US" sz="2599" spc="-10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-Lost sales and customer dissatisfaction</a:t>
            </a:r>
          </a:p>
          <a:p>
            <a:pPr algn="just">
              <a:lnSpc>
                <a:spcPts val="2859"/>
              </a:lnSpc>
            </a:pPr>
            <a:endParaRPr lang="en-US" sz="2599" spc="-101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2859"/>
              </a:lnSpc>
            </a:pPr>
            <a:r>
              <a:rPr lang="en-US" sz="2599" spc="-10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599" b="1" spc="-10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599" spc="-10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599" b="1" spc="-10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Overstocking-</a:t>
            </a:r>
            <a:r>
              <a:rPr lang="en-US" sz="2599" spc="-10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Increased holding costs and product wastage</a:t>
            </a:r>
          </a:p>
          <a:p>
            <a:pPr algn="just">
              <a:lnSpc>
                <a:spcPts val="2859"/>
              </a:lnSpc>
            </a:pPr>
            <a:endParaRPr lang="en-US" sz="2599" spc="-101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2859"/>
              </a:lnSpc>
            </a:pPr>
            <a:r>
              <a:rPr lang="en-US" sz="2599" spc="-10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599" b="1" spc="-10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</a:t>
            </a:r>
            <a:r>
              <a:rPr lang="en-US" sz="2599" b="1" spc="-10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Manual inventory tracking</a:t>
            </a:r>
            <a:r>
              <a:rPr lang="en-US" sz="2599" spc="-10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Time-consuming and error-prone</a:t>
            </a:r>
          </a:p>
          <a:p>
            <a:pPr algn="just">
              <a:lnSpc>
                <a:spcPts val="2859"/>
              </a:lnSpc>
            </a:pPr>
            <a:endParaRPr lang="en-US" sz="2599" spc="-101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2859"/>
              </a:lnSpc>
            </a:pPr>
            <a:r>
              <a:rPr lang="en-US" sz="2599" spc="-10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599" b="1" spc="-10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</a:t>
            </a:r>
            <a:r>
              <a:rPr lang="en-US" sz="2599" b="1" spc="-10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Inaccurate demand forecasting</a:t>
            </a:r>
            <a:r>
              <a:rPr lang="en-US" sz="2599" spc="-10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Lack of data-driven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687" y="327825"/>
            <a:ext cx="3688102" cy="1126256"/>
            <a:chOff x="0" y="0"/>
            <a:chExt cx="971352" cy="296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1352" cy="296627"/>
            </a:xfrm>
            <a:custGeom>
              <a:avLst/>
              <a:gdLst/>
              <a:ahLst/>
              <a:cxnLst/>
              <a:rect l="l" t="t" r="r" b="b"/>
              <a:pathLst>
                <a:path w="971352" h="296627">
                  <a:moveTo>
                    <a:pt x="148314" y="0"/>
                  </a:moveTo>
                  <a:lnTo>
                    <a:pt x="823038" y="0"/>
                  </a:lnTo>
                  <a:cubicBezTo>
                    <a:pt x="862374" y="0"/>
                    <a:pt x="900098" y="15626"/>
                    <a:pt x="927912" y="43440"/>
                  </a:cubicBezTo>
                  <a:cubicBezTo>
                    <a:pt x="955726" y="71254"/>
                    <a:pt x="971352" y="108978"/>
                    <a:pt x="971352" y="148314"/>
                  </a:cubicBezTo>
                  <a:lnTo>
                    <a:pt x="971352" y="148314"/>
                  </a:lnTo>
                  <a:cubicBezTo>
                    <a:pt x="971352" y="187649"/>
                    <a:pt x="955726" y="225373"/>
                    <a:pt x="927912" y="253187"/>
                  </a:cubicBezTo>
                  <a:cubicBezTo>
                    <a:pt x="900098" y="281001"/>
                    <a:pt x="862374" y="296627"/>
                    <a:pt x="823038" y="296627"/>
                  </a:cubicBezTo>
                  <a:lnTo>
                    <a:pt x="148314" y="296627"/>
                  </a:lnTo>
                  <a:cubicBezTo>
                    <a:pt x="108978" y="296627"/>
                    <a:pt x="71254" y="281001"/>
                    <a:pt x="43440" y="253187"/>
                  </a:cubicBezTo>
                  <a:cubicBezTo>
                    <a:pt x="15626" y="225373"/>
                    <a:pt x="0" y="187649"/>
                    <a:pt x="0" y="148314"/>
                  </a:cubicBezTo>
                  <a:lnTo>
                    <a:pt x="0" y="148314"/>
                  </a:lnTo>
                  <a:cubicBezTo>
                    <a:pt x="0" y="108978"/>
                    <a:pt x="15626" y="71254"/>
                    <a:pt x="43440" y="43440"/>
                  </a:cubicBezTo>
                  <a:cubicBezTo>
                    <a:pt x="71254" y="15626"/>
                    <a:pt x="108978" y="0"/>
                    <a:pt x="148314" y="0"/>
                  </a:cubicBez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71352" cy="34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213543" y="7647855"/>
            <a:ext cx="1856427" cy="1866608"/>
          </a:xfrm>
          <a:custGeom>
            <a:avLst/>
            <a:gdLst/>
            <a:ahLst/>
            <a:cxnLst/>
            <a:rect l="l" t="t" r="r" b="b"/>
            <a:pathLst>
              <a:path w="1856427" h="1866608">
                <a:moveTo>
                  <a:pt x="0" y="0"/>
                </a:moveTo>
                <a:lnTo>
                  <a:pt x="1856427" y="0"/>
                </a:lnTo>
                <a:lnTo>
                  <a:pt x="1856427" y="1866609"/>
                </a:lnTo>
                <a:lnTo>
                  <a:pt x="0" y="1866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069970" y="7519774"/>
            <a:ext cx="1856427" cy="1866608"/>
          </a:xfrm>
          <a:custGeom>
            <a:avLst/>
            <a:gdLst/>
            <a:ahLst/>
            <a:cxnLst/>
            <a:rect l="l" t="t" r="r" b="b"/>
            <a:pathLst>
              <a:path w="1856427" h="1866608">
                <a:moveTo>
                  <a:pt x="0" y="0"/>
                </a:moveTo>
                <a:lnTo>
                  <a:pt x="1856426" y="0"/>
                </a:lnTo>
                <a:lnTo>
                  <a:pt x="1856426" y="1866608"/>
                </a:lnTo>
                <a:lnTo>
                  <a:pt x="0" y="1866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833021" y="1936461"/>
            <a:ext cx="10201868" cy="5100934"/>
          </a:xfrm>
          <a:custGeom>
            <a:avLst/>
            <a:gdLst/>
            <a:ahLst/>
            <a:cxnLst/>
            <a:rect l="l" t="t" r="r" b="b"/>
            <a:pathLst>
              <a:path w="10201868" h="5100934">
                <a:moveTo>
                  <a:pt x="0" y="0"/>
                </a:moveTo>
                <a:lnTo>
                  <a:pt x="10201868" y="0"/>
                </a:lnTo>
                <a:lnTo>
                  <a:pt x="10201868" y="5100933"/>
                </a:lnTo>
                <a:lnTo>
                  <a:pt x="0" y="51009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010313" y="5884614"/>
            <a:ext cx="4600486" cy="2875304"/>
          </a:xfrm>
          <a:custGeom>
            <a:avLst/>
            <a:gdLst/>
            <a:ahLst/>
            <a:cxnLst/>
            <a:rect l="l" t="t" r="r" b="b"/>
            <a:pathLst>
              <a:path w="4600486" h="2875304">
                <a:moveTo>
                  <a:pt x="0" y="0"/>
                </a:moveTo>
                <a:lnTo>
                  <a:pt x="4600487" y="0"/>
                </a:lnTo>
                <a:lnTo>
                  <a:pt x="4600487" y="2875304"/>
                </a:lnTo>
                <a:lnTo>
                  <a:pt x="0" y="28753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6439" y="204282"/>
            <a:ext cx="12406029" cy="124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2"/>
              </a:lnSpc>
            </a:pPr>
            <a:r>
              <a:rPr lang="en-US" sz="8729" b="1" spc="-3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Smart Solutions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00467" y="7685955"/>
            <a:ext cx="4625930" cy="1572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03"/>
              </a:lnSpc>
            </a:pPr>
            <a:r>
              <a:rPr lang="en-US" sz="3730" b="1" spc="-14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Maintaining the perfect balance in stock levels.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021" y="2224529"/>
            <a:ext cx="6908292" cy="2918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8793" lvl="1" indent="-254397" algn="just">
              <a:lnSpc>
                <a:spcPts val="2592"/>
              </a:lnSpc>
              <a:buFont typeface="Arial"/>
              <a:buChar char="•"/>
            </a:pPr>
            <a:r>
              <a:rPr lang="en-US" sz="2356" spc="-9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continuously monitors inventory levels and applies predefined stock thresholds derived from historical sales data.</a:t>
            </a:r>
          </a:p>
          <a:p>
            <a:pPr marL="508793" lvl="1" indent="-254397" algn="just">
              <a:lnSpc>
                <a:spcPts val="2592"/>
              </a:lnSpc>
              <a:buFont typeface="Arial"/>
              <a:buChar char="•"/>
            </a:pPr>
            <a:r>
              <a:rPr lang="en-US" sz="2356" spc="-9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machine-learning demand forecasting model predicts future sales and identifies potential stock-out risks in advance.</a:t>
            </a:r>
          </a:p>
          <a:p>
            <a:pPr marL="508793" lvl="1" indent="-254397" algn="just">
              <a:lnSpc>
                <a:spcPts val="2592"/>
              </a:lnSpc>
              <a:buFont typeface="Arial"/>
              <a:buChar char="•"/>
            </a:pPr>
            <a:r>
              <a:rPr lang="en-US" sz="2356" spc="-9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dashboard alerts enable proactive restocking, reducing lost sales and ensuring better product availability.</a:t>
            </a:r>
          </a:p>
          <a:p>
            <a:pPr algn="just">
              <a:lnSpc>
                <a:spcPts val="2592"/>
              </a:lnSpc>
            </a:pPr>
            <a:endParaRPr lang="en-US" sz="2356" spc="-9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38270" y="0"/>
            <a:ext cx="7646276" cy="1270564"/>
            <a:chOff x="0" y="0"/>
            <a:chExt cx="2013834" cy="3346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3834" cy="334634"/>
            </a:xfrm>
            <a:custGeom>
              <a:avLst/>
              <a:gdLst/>
              <a:ahLst/>
              <a:cxnLst/>
              <a:rect l="l" t="t" r="r" b="b"/>
              <a:pathLst>
                <a:path w="2013834" h="334634">
                  <a:moveTo>
                    <a:pt x="101251" y="0"/>
                  </a:moveTo>
                  <a:lnTo>
                    <a:pt x="1912583" y="0"/>
                  </a:lnTo>
                  <a:cubicBezTo>
                    <a:pt x="1939436" y="0"/>
                    <a:pt x="1965190" y="10667"/>
                    <a:pt x="1984178" y="29656"/>
                  </a:cubicBezTo>
                  <a:cubicBezTo>
                    <a:pt x="2003166" y="48644"/>
                    <a:pt x="2013834" y="74397"/>
                    <a:pt x="2013834" y="101251"/>
                  </a:cubicBezTo>
                  <a:lnTo>
                    <a:pt x="2013834" y="233383"/>
                  </a:lnTo>
                  <a:cubicBezTo>
                    <a:pt x="2013834" y="289303"/>
                    <a:pt x="1968502" y="334634"/>
                    <a:pt x="1912583" y="334634"/>
                  </a:cubicBezTo>
                  <a:lnTo>
                    <a:pt x="101251" y="334634"/>
                  </a:lnTo>
                  <a:cubicBezTo>
                    <a:pt x="45332" y="334634"/>
                    <a:pt x="0" y="289303"/>
                    <a:pt x="0" y="233383"/>
                  </a:cubicBezTo>
                  <a:lnTo>
                    <a:pt x="0" y="101251"/>
                  </a:lnTo>
                  <a:cubicBezTo>
                    <a:pt x="0" y="45332"/>
                    <a:pt x="45332" y="0"/>
                    <a:pt x="101251" y="0"/>
                  </a:cubicBez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13834" cy="382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948848" y="0"/>
            <a:ext cx="2048123" cy="2059356"/>
          </a:xfrm>
          <a:custGeom>
            <a:avLst/>
            <a:gdLst/>
            <a:ahLst/>
            <a:cxnLst/>
            <a:rect l="l" t="t" r="r" b="b"/>
            <a:pathLst>
              <a:path w="2048123" h="2059356">
                <a:moveTo>
                  <a:pt x="0" y="0"/>
                </a:moveTo>
                <a:lnTo>
                  <a:pt x="2048124" y="0"/>
                </a:lnTo>
                <a:lnTo>
                  <a:pt x="2048124" y="2059356"/>
                </a:lnTo>
                <a:lnTo>
                  <a:pt x="0" y="2059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02528" y="-75419"/>
            <a:ext cx="2123131" cy="2134775"/>
          </a:xfrm>
          <a:custGeom>
            <a:avLst/>
            <a:gdLst/>
            <a:ahLst/>
            <a:cxnLst/>
            <a:rect l="l" t="t" r="r" b="b"/>
            <a:pathLst>
              <a:path w="2123131" h="2134775">
                <a:moveTo>
                  <a:pt x="0" y="0"/>
                </a:moveTo>
                <a:lnTo>
                  <a:pt x="2123131" y="0"/>
                </a:lnTo>
                <a:lnTo>
                  <a:pt x="2123131" y="2134775"/>
                </a:lnTo>
                <a:lnTo>
                  <a:pt x="0" y="213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13297" y="1482419"/>
            <a:ext cx="3903570" cy="859817"/>
          </a:xfrm>
          <a:custGeom>
            <a:avLst/>
            <a:gdLst/>
            <a:ahLst/>
            <a:cxnLst/>
            <a:rect l="l" t="t" r="r" b="b"/>
            <a:pathLst>
              <a:path w="3903570" h="859817">
                <a:moveTo>
                  <a:pt x="0" y="0"/>
                </a:moveTo>
                <a:lnTo>
                  <a:pt x="3903570" y="0"/>
                </a:lnTo>
                <a:lnTo>
                  <a:pt x="3903570" y="859817"/>
                </a:lnTo>
                <a:lnTo>
                  <a:pt x="0" y="8598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289548" y="2342236"/>
            <a:ext cx="551068" cy="881709"/>
          </a:xfrm>
          <a:custGeom>
            <a:avLst/>
            <a:gdLst/>
            <a:ahLst/>
            <a:cxnLst/>
            <a:rect l="l" t="t" r="r" b="b"/>
            <a:pathLst>
              <a:path w="551068" h="881709">
                <a:moveTo>
                  <a:pt x="0" y="0"/>
                </a:moveTo>
                <a:lnTo>
                  <a:pt x="551068" y="0"/>
                </a:lnTo>
                <a:lnTo>
                  <a:pt x="551068" y="881709"/>
                </a:lnTo>
                <a:lnTo>
                  <a:pt x="0" y="8817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812978" y="2783090"/>
            <a:ext cx="3504208" cy="1231551"/>
          </a:xfrm>
          <a:custGeom>
            <a:avLst/>
            <a:gdLst/>
            <a:ahLst/>
            <a:cxnLst/>
            <a:rect l="l" t="t" r="r" b="b"/>
            <a:pathLst>
              <a:path w="3504208" h="1231551">
                <a:moveTo>
                  <a:pt x="0" y="0"/>
                </a:moveTo>
                <a:lnTo>
                  <a:pt x="3504208" y="0"/>
                </a:lnTo>
                <a:lnTo>
                  <a:pt x="3504208" y="1231552"/>
                </a:lnTo>
                <a:lnTo>
                  <a:pt x="0" y="12315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132678" y="2783090"/>
            <a:ext cx="1184508" cy="1170893"/>
          </a:xfrm>
          <a:custGeom>
            <a:avLst/>
            <a:gdLst/>
            <a:ahLst/>
            <a:cxnLst/>
            <a:rect l="l" t="t" r="r" b="b"/>
            <a:pathLst>
              <a:path w="1184508" h="1170893">
                <a:moveTo>
                  <a:pt x="0" y="0"/>
                </a:moveTo>
                <a:lnTo>
                  <a:pt x="1184508" y="0"/>
                </a:lnTo>
                <a:lnTo>
                  <a:pt x="1184508" y="1170893"/>
                </a:lnTo>
                <a:lnTo>
                  <a:pt x="0" y="11708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289548" y="3793412"/>
            <a:ext cx="551068" cy="881709"/>
          </a:xfrm>
          <a:custGeom>
            <a:avLst/>
            <a:gdLst/>
            <a:ahLst/>
            <a:cxnLst/>
            <a:rect l="l" t="t" r="r" b="b"/>
            <a:pathLst>
              <a:path w="551068" h="881709">
                <a:moveTo>
                  <a:pt x="0" y="0"/>
                </a:moveTo>
                <a:lnTo>
                  <a:pt x="551068" y="0"/>
                </a:lnTo>
                <a:lnTo>
                  <a:pt x="551068" y="881709"/>
                </a:lnTo>
                <a:lnTo>
                  <a:pt x="0" y="8817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44889" y="4452792"/>
            <a:ext cx="6596874" cy="164922"/>
          </a:xfrm>
          <a:custGeom>
            <a:avLst/>
            <a:gdLst/>
            <a:ahLst/>
            <a:cxnLst/>
            <a:rect l="l" t="t" r="r" b="b"/>
            <a:pathLst>
              <a:path w="6596874" h="164922">
                <a:moveTo>
                  <a:pt x="0" y="0"/>
                </a:moveTo>
                <a:lnTo>
                  <a:pt x="6596874" y="0"/>
                </a:lnTo>
                <a:lnTo>
                  <a:pt x="6596874" y="164922"/>
                </a:lnTo>
                <a:lnTo>
                  <a:pt x="0" y="1649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67770" y="8246442"/>
            <a:ext cx="690415" cy="1104664"/>
          </a:xfrm>
          <a:custGeom>
            <a:avLst/>
            <a:gdLst/>
            <a:ahLst/>
            <a:cxnLst/>
            <a:rect l="l" t="t" r="r" b="b"/>
            <a:pathLst>
              <a:path w="690415" h="1104664">
                <a:moveTo>
                  <a:pt x="0" y="0"/>
                </a:moveTo>
                <a:lnTo>
                  <a:pt x="690416" y="0"/>
                </a:lnTo>
                <a:lnTo>
                  <a:pt x="690416" y="1104664"/>
                </a:lnTo>
                <a:lnTo>
                  <a:pt x="0" y="1104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98841" y="5058568"/>
            <a:ext cx="2210785" cy="3187873"/>
          </a:xfrm>
          <a:custGeom>
            <a:avLst/>
            <a:gdLst/>
            <a:ahLst/>
            <a:cxnLst/>
            <a:rect l="l" t="t" r="r" b="b"/>
            <a:pathLst>
              <a:path w="2210785" h="3187873">
                <a:moveTo>
                  <a:pt x="0" y="0"/>
                </a:moveTo>
                <a:lnTo>
                  <a:pt x="2210786" y="0"/>
                </a:lnTo>
                <a:lnTo>
                  <a:pt x="2210786" y="3187874"/>
                </a:lnTo>
                <a:lnTo>
                  <a:pt x="0" y="31878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976976" y="4617714"/>
            <a:ext cx="551068" cy="881709"/>
          </a:xfrm>
          <a:custGeom>
            <a:avLst/>
            <a:gdLst/>
            <a:ahLst/>
            <a:cxnLst/>
            <a:rect l="l" t="t" r="r" b="b"/>
            <a:pathLst>
              <a:path w="551068" h="881709">
                <a:moveTo>
                  <a:pt x="0" y="0"/>
                </a:moveTo>
                <a:lnTo>
                  <a:pt x="551068" y="0"/>
                </a:lnTo>
                <a:lnTo>
                  <a:pt x="551068" y="881709"/>
                </a:lnTo>
                <a:lnTo>
                  <a:pt x="0" y="8817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289548" y="4617714"/>
            <a:ext cx="551068" cy="881709"/>
          </a:xfrm>
          <a:custGeom>
            <a:avLst/>
            <a:gdLst/>
            <a:ahLst/>
            <a:cxnLst/>
            <a:rect l="l" t="t" r="r" b="b"/>
            <a:pathLst>
              <a:path w="551068" h="881709">
                <a:moveTo>
                  <a:pt x="0" y="0"/>
                </a:moveTo>
                <a:lnTo>
                  <a:pt x="551068" y="0"/>
                </a:lnTo>
                <a:lnTo>
                  <a:pt x="551068" y="881709"/>
                </a:lnTo>
                <a:lnTo>
                  <a:pt x="0" y="8817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628080" y="5058568"/>
            <a:ext cx="2220655" cy="3187873"/>
          </a:xfrm>
          <a:custGeom>
            <a:avLst/>
            <a:gdLst/>
            <a:ahLst/>
            <a:cxnLst/>
            <a:rect l="l" t="t" r="r" b="b"/>
            <a:pathLst>
              <a:path w="2220655" h="3187873">
                <a:moveTo>
                  <a:pt x="0" y="0"/>
                </a:moveTo>
                <a:lnTo>
                  <a:pt x="2220655" y="0"/>
                </a:lnTo>
                <a:lnTo>
                  <a:pt x="2220655" y="3187874"/>
                </a:lnTo>
                <a:lnTo>
                  <a:pt x="0" y="31878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3845" y="5220418"/>
            <a:ext cx="2244301" cy="3149717"/>
          </a:xfrm>
          <a:custGeom>
            <a:avLst/>
            <a:gdLst/>
            <a:ahLst/>
            <a:cxnLst/>
            <a:rect l="l" t="t" r="r" b="b"/>
            <a:pathLst>
              <a:path w="2244301" h="3149717">
                <a:moveTo>
                  <a:pt x="0" y="0"/>
                </a:moveTo>
                <a:lnTo>
                  <a:pt x="2244301" y="0"/>
                </a:lnTo>
                <a:lnTo>
                  <a:pt x="2244301" y="3149717"/>
                </a:lnTo>
                <a:lnTo>
                  <a:pt x="0" y="314971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043" r="-2043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437748" y="1767547"/>
            <a:ext cx="3043899" cy="1631319"/>
          </a:xfrm>
          <a:custGeom>
            <a:avLst/>
            <a:gdLst/>
            <a:ahLst/>
            <a:cxnLst/>
            <a:rect l="l" t="t" r="r" b="b"/>
            <a:pathLst>
              <a:path w="3043899" h="1631319">
                <a:moveTo>
                  <a:pt x="0" y="0"/>
                </a:moveTo>
                <a:lnTo>
                  <a:pt x="3043899" y="0"/>
                </a:lnTo>
                <a:lnTo>
                  <a:pt x="3043899" y="1631319"/>
                </a:lnTo>
                <a:lnTo>
                  <a:pt x="0" y="16313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r="-36170" b="-27422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684163" y="3398866"/>
            <a:ext cx="551068" cy="881709"/>
          </a:xfrm>
          <a:custGeom>
            <a:avLst/>
            <a:gdLst/>
            <a:ahLst/>
            <a:cxnLst/>
            <a:rect l="l" t="t" r="r" b="b"/>
            <a:pathLst>
              <a:path w="551068" h="881709">
                <a:moveTo>
                  <a:pt x="0" y="0"/>
                </a:moveTo>
                <a:lnTo>
                  <a:pt x="551068" y="0"/>
                </a:lnTo>
                <a:lnTo>
                  <a:pt x="551068" y="881709"/>
                </a:lnTo>
                <a:lnTo>
                  <a:pt x="0" y="8817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8885462" y="4014642"/>
            <a:ext cx="4671624" cy="2877226"/>
          </a:xfrm>
          <a:custGeom>
            <a:avLst/>
            <a:gdLst/>
            <a:ahLst/>
            <a:cxnLst/>
            <a:rect l="l" t="t" r="r" b="b"/>
            <a:pathLst>
              <a:path w="4671624" h="2877226">
                <a:moveTo>
                  <a:pt x="0" y="0"/>
                </a:moveTo>
                <a:lnTo>
                  <a:pt x="4671625" y="0"/>
                </a:lnTo>
                <a:lnTo>
                  <a:pt x="4671625" y="2877226"/>
                </a:lnTo>
                <a:lnTo>
                  <a:pt x="0" y="28772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2481647" y="4375913"/>
            <a:ext cx="863271" cy="844504"/>
          </a:xfrm>
          <a:custGeom>
            <a:avLst/>
            <a:gdLst/>
            <a:ahLst/>
            <a:cxnLst/>
            <a:rect l="l" t="t" r="r" b="b"/>
            <a:pathLst>
              <a:path w="863271" h="844504">
                <a:moveTo>
                  <a:pt x="0" y="0"/>
                </a:moveTo>
                <a:lnTo>
                  <a:pt x="863270" y="0"/>
                </a:lnTo>
                <a:lnTo>
                  <a:pt x="863270" y="844505"/>
                </a:lnTo>
                <a:lnTo>
                  <a:pt x="0" y="84450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26439" y="781"/>
            <a:ext cx="1309372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02"/>
              </a:lnSpc>
            </a:pPr>
            <a:r>
              <a:rPr lang="en-US" sz="8729" b="1" spc="-3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</a:t>
            </a:r>
          </a:p>
        </p:txBody>
      </p:sp>
      <p:sp>
        <p:nvSpPr>
          <p:cNvPr id="24" name="Freeform 24"/>
          <p:cNvSpPr/>
          <p:nvPr/>
        </p:nvSpPr>
        <p:spPr>
          <a:xfrm rot="-5400000">
            <a:off x="5024692" y="5819922"/>
            <a:ext cx="6596874" cy="123443"/>
          </a:xfrm>
          <a:custGeom>
            <a:avLst/>
            <a:gdLst/>
            <a:ahLst/>
            <a:cxnLst/>
            <a:rect l="l" t="t" r="r" b="b"/>
            <a:pathLst>
              <a:path w="6596874" h="123443">
                <a:moveTo>
                  <a:pt x="0" y="0"/>
                </a:moveTo>
                <a:lnTo>
                  <a:pt x="6596874" y="0"/>
                </a:lnTo>
                <a:lnTo>
                  <a:pt x="6596874" y="123443"/>
                </a:lnTo>
                <a:lnTo>
                  <a:pt x="0" y="1234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0864" b="-2737"/>
            </a:stretch>
          </a:blipFill>
        </p:spPr>
      </p:sp>
      <p:sp>
        <p:nvSpPr>
          <p:cNvPr id="25" name="Freeform 25"/>
          <p:cNvSpPr/>
          <p:nvPr/>
        </p:nvSpPr>
        <p:spPr>
          <a:xfrm rot="-5400000">
            <a:off x="8763040" y="1962775"/>
            <a:ext cx="761920" cy="1640630"/>
          </a:xfrm>
          <a:custGeom>
            <a:avLst/>
            <a:gdLst/>
            <a:ahLst/>
            <a:cxnLst/>
            <a:rect l="l" t="t" r="r" b="b"/>
            <a:pathLst>
              <a:path w="761920" h="1640630">
                <a:moveTo>
                  <a:pt x="0" y="0"/>
                </a:moveTo>
                <a:lnTo>
                  <a:pt x="761920" y="0"/>
                </a:lnTo>
                <a:lnTo>
                  <a:pt x="761920" y="1640631"/>
                </a:lnTo>
                <a:lnTo>
                  <a:pt x="0" y="1640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290" r="-17290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787977" y="9015158"/>
            <a:ext cx="6596874" cy="164922"/>
          </a:xfrm>
          <a:custGeom>
            <a:avLst/>
            <a:gdLst/>
            <a:ahLst/>
            <a:cxnLst/>
            <a:rect l="l" t="t" r="r" b="b"/>
            <a:pathLst>
              <a:path w="6596874" h="164922">
                <a:moveTo>
                  <a:pt x="0" y="0"/>
                </a:moveTo>
                <a:lnTo>
                  <a:pt x="6596873" y="0"/>
                </a:lnTo>
                <a:lnTo>
                  <a:pt x="6596873" y="164922"/>
                </a:lnTo>
                <a:lnTo>
                  <a:pt x="0" y="1649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8512848" y="7757745"/>
            <a:ext cx="9890878" cy="787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  <a:spcBef>
                <a:spcPct val="0"/>
              </a:spcBef>
            </a:pPr>
            <a:r>
              <a:rPr lang="en-US" sz="23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Schema</a:t>
            </a:r>
            <a:r>
              <a:rPr lang="en-US" sz="23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Secure role-based management for Admins and Store Managers.</a:t>
            </a:r>
          </a:p>
          <a:p>
            <a:pPr>
              <a:lnSpc>
                <a:spcPts val="3220"/>
              </a:lnSpc>
              <a:spcBef>
                <a:spcPct val="0"/>
              </a:spcBef>
            </a:pPr>
            <a:endParaRPr lang="en-US" sz="23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882734" y="8151378"/>
            <a:ext cx="10439400" cy="808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220"/>
              </a:lnSpc>
              <a:spcBef>
                <a:spcPct val="0"/>
              </a:spcBef>
            </a:pPr>
            <a:r>
              <a:rPr lang="en-US" sz="23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Product Schema:</a:t>
            </a:r>
            <a:r>
              <a:rPr lang="en-US" sz="23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Comprehensive SKU tracking including city and store identifiers.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408256" y="8566520"/>
            <a:ext cx="9063211" cy="808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Sales Schema</a:t>
            </a:r>
            <a:r>
              <a:rPr lang="en-US" sz="23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Historical transaction data mapped to time-series sequences.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4994" y="81350"/>
            <a:ext cx="6362602" cy="1326000"/>
            <a:chOff x="0" y="0"/>
            <a:chExt cx="1675747" cy="3492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5747" cy="349234"/>
            </a:xfrm>
            <a:custGeom>
              <a:avLst/>
              <a:gdLst/>
              <a:ahLst/>
              <a:cxnLst/>
              <a:rect l="l" t="t" r="r" b="b"/>
              <a:pathLst>
                <a:path w="1675747" h="349234">
                  <a:moveTo>
                    <a:pt x="121679" y="0"/>
                  </a:moveTo>
                  <a:lnTo>
                    <a:pt x="1554068" y="0"/>
                  </a:lnTo>
                  <a:cubicBezTo>
                    <a:pt x="1621270" y="0"/>
                    <a:pt x="1675747" y="54477"/>
                    <a:pt x="1675747" y="121679"/>
                  </a:cubicBezTo>
                  <a:lnTo>
                    <a:pt x="1675747" y="227556"/>
                  </a:lnTo>
                  <a:cubicBezTo>
                    <a:pt x="1675747" y="294757"/>
                    <a:pt x="1621270" y="349234"/>
                    <a:pt x="1554068" y="349234"/>
                  </a:cubicBezTo>
                  <a:lnTo>
                    <a:pt x="121679" y="349234"/>
                  </a:lnTo>
                  <a:cubicBezTo>
                    <a:pt x="89407" y="349234"/>
                    <a:pt x="58458" y="336415"/>
                    <a:pt x="35639" y="313596"/>
                  </a:cubicBezTo>
                  <a:cubicBezTo>
                    <a:pt x="12820" y="290776"/>
                    <a:pt x="0" y="259827"/>
                    <a:pt x="0" y="227556"/>
                  </a:cubicBezTo>
                  <a:lnTo>
                    <a:pt x="0" y="121679"/>
                  </a:lnTo>
                  <a:cubicBezTo>
                    <a:pt x="0" y="89407"/>
                    <a:pt x="12820" y="58458"/>
                    <a:pt x="35639" y="35639"/>
                  </a:cubicBezTo>
                  <a:cubicBezTo>
                    <a:pt x="58458" y="12820"/>
                    <a:pt x="89407" y="0"/>
                    <a:pt x="121679" y="0"/>
                  </a:cubicBez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75747" cy="396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527075" y="261192"/>
            <a:ext cx="2403540" cy="2416722"/>
          </a:xfrm>
          <a:custGeom>
            <a:avLst/>
            <a:gdLst/>
            <a:ahLst/>
            <a:cxnLst/>
            <a:rect l="l" t="t" r="r" b="b"/>
            <a:pathLst>
              <a:path w="2403540" h="2416722">
                <a:moveTo>
                  <a:pt x="0" y="0"/>
                </a:moveTo>
                <a:lnTo>
                  <a:pt x="2403540" y="0"/>
                </a:lnTo>
                <a:lnTo>
                  <a:pt x="2403540" y="2416722"/>
                </a:lnTo>
                <a:lnTo>
                  <a:pt x="0" y="24167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11706" y="136785"/>
            <a:ext cx="2676294" cy="2690972"/>
          </a:xfrm>
          <a:custGeom>
            <a:avLst/>
            <a:gdLst/>
            <a:ahLst/>
            <a:cxnLst/>
            <a:rect l="l" t="t" r="r" b="b"/>
            <a:pathLst>
              <a:path w="2676294" h="2690972">
                <a:moveTo>
                  <a:pt x="0" y="0"/>
                </a:moveTo>
                <a:lnTo>
                  <a:pt x="2676294" y="0"/>
                </a:lnTo>
                <a:lnTo>
                  <a:pt x="2676294" y="2690972"/>
                </a:lnTo>
                <a:lnTo>
                  <a:pt x="0" y="2690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2920139"/>
            <a:ext cx="3637767" cy="4517632"/>
            <a:chOff x="0" y="0"/>
            <a:chExt cx="958095" cy="11898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8095" cy="1189829"/>
            </a:xfrm>
            <a:custGeom>
              <a:avLst/>
              <a:gdLst/>
              <a:ahLst/>
              <a:cxnLst/>
              <a:rect l="l" t="t" r="r" b="b"/>
              <a:pathLst>
                <a:path w="958095" h="1189829">
                  <a:moveTo>
                    <a:pt x="108539" y="0"/>
                  </a:moveTo>
                  <a:lnTo>
                    <a:pt x="849556" y="0"/>
                  </a:lnTo>
                  <a:cubicBezTo>
                    <a:pt x="878343" y="0"/>
                    <a:pt x="905950" y="11435"/>
                    <a:pt x="926305" y="31790"/>
                  </a:cubicBezTo>
                  <a:cubicBezTo>
                    <a:pt x="946660" y="52145"/>
                    <a:pt x="958095" y="79752"/>
                    <a:pt x="958095" y="108539"/>
                  </a:cubicBezTo>
                  <a:lnTo>
                    <a:pt x="958095" y="1081290"/>
                  </a:lnTo>
                  <a:cubicBezTo>
                    <a:pt x="958095" y="1110077"/>
                    <a:pt x="946660" y="1137684"/>
                    <a:pt x="926305" y="1158039"/>
                  </a:cubicBezTo>
                  <a:cubicBezTo>
                    <a:pt x="905950" y="1178394"/>
                    <a:pt x="878343" y="1189829"/>
                    <a:pt x="849556" y="1189829"/>
                  </a:cubicBezTo>
                  <a:lnTo>
                    <a:pt x="108539" y="1189829"/>
                  </a:lnTo>
                  <a:cubicBezTo>
                    <a:pt x="79752" y="1189829"/>
                    <a:pt x="52145" y="1178394"/>
                    <a:pt x="31790" y="1158039"/>
                  </a:cubicBezTo>
                  <a:cubicBezTo>
                    <a:pt x="11435" y="1137684"/>
                    <a:pt x="0" y="1110077"/>
                    <a:pt x="0" y="1081290"/>
                  </a:cubicBezTo>
                  <a:lnTo>
                    <a:pt x="0" y="108539"/>
                  </a:lnTo>
                  <a:cubicBezTo>
                    <a:pt x="0" y="79752"/>
                    <a:pt x="11435" y="52145"/>
                    <a:pt x="31790" y="31790"/>
                  </a:cubicBezTo>
                  <a:cubicBezTo>
                    <a:pt x="52145" y="11435"/>
                    <a:pt x="79752" y="0"/>
                    <a:pt x="10853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1E40">
                    <a:alpha val="100000"/>
                  </a:srgbClr>
                </a:gs>
                <a:gs pos="50000">
                  <a:srgbClr val="832F9B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958095" cy="1256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  <a:p>
              <a:pPr algn="ctr">
                <a:lnSpc>
                  <a:spcPts val="3220"/>
                </a:lnSpc>
              </a:pPr>
              <a:endParaRPr/>
            </a:p>
            <a:p>
              <a:pPr algn="ctr">
                <a:lnSpc>
                  <a:spcPts val="3220"/>
                </a:lnSpc>
              </a:pPr>
              <a:endParaRPr/>
            </a:p>
            <a:p>
              <a:pPr algn="ctr">
                <a:lnSpc>
                  <a:spcPts val="3220"/>
                </a:lnSpc>
              </a:pPr>
              <a:endParaRPr/>
            </a:p>
            <a:p>
              <a:pPr algn="ctr">
                <a:lnSpc>
                  <a:spcPts val="3220"/>
                </a:lnSpc>
              </a:pPr>
              <a:endParaRPr/>
            </a:p>
            <a:p>
              <a:pPr algn="ctr">
                <a:lnSpc>
                  <a:spcPts val="3220"/>
                </a:lnSpc>
              </a:pPr>
              <a:endParaRPr/>
            </a:p>
            <a:p>
              <a:pPr algn="ctr">
                <a:lnSpc>
                  <a:spcPts val="3220"/>
                </a:lnSpc>
              </a:pPr>
              <a:endParaRPr/>
            </a:p>
            <a:p>
              <a:pPr algn="ctr">
                <a:lnSpc>
                  <a:spcPts val="3220"/>
                </a:lnSpc>
              </a:pPr>
              <a:endParaRPr/>
            </a:p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42157" y="3034150"/>
            <a:ext cx="3637767" cy="4403620"/>
            <a:chOff x="0" y="0"/>
            <a:chExt cx="958095" cy="115980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58095" cy="1159801"/>
            </a:xfrm>
            <a:custGeom>
              <a:avLst/>
              <a:gdLst/>
              <a:ahLst/>
              <a:cxnLst/>
              <a:rect l="l" t="t" r="r" b="b"/>
              <a:pathLst>
                <a:path w="958095" h="1159801">
                  <a:moveTo>
                    <a:pt x="108539" y="0"/>
                  </a:moveTo>
                  <a:lnTo>
                    <a:pt x="849556" y="0"/>
                  </a:lnTo>
                  <a:cubicBezTo>
                    <a:pt x="878343" y="0"/>
                    <a:pt x="905950" y="11435"/>
                    <a:pt x="926305" y="31790"/>
                  </a:cubicBezTo>
                  <a:cubicBezTo>
                    <a:pt x="946660" y="52145"/>
                    <a:pt x="958095" y="79752"/>
                    <a:pt x="958095" y="108539"/>
                  </a:cubicBezTo>
                  <a:lnTo>
                    <a:pt x="958095" y="1051263"/>
                  </a:lnTo>
                  <a:cubicBezTo>
                    <a:pt x="958095" y="1080049"/>
                    <a:pt x="946660" y="1107656"/>
                    <a:pt x="926305" y="1128011"/>
                  </a:cubicBezTo>
                  <a:cubicBezTo>
                    <a:pt x="905950" y="1148366"/>
                    <a:pt x="878343" y="1159801"/>
                    <a:pt x="849556" y="1159801"/>
                  </a:cubicBezTo>
                  <a:lnTo>
                    <a:pt x="108539" y="1159801"/>
                  </a:lnTo>
                  <a:cubicBezTo>
                    <a:pt x="79752" y="1159801"/>
                    <a:pt x="52145" y="1148366"/>
                    <a:pt x="31790" y="1128011"/>
                  </a:cubicBezTo>
                  <a:cubicBezTo>
                    <a:pt x="11435" y="1107656"/>
                    <a:pt x="0" y="1080049"/>
                    <a:pt x="0" y="1051263"/>
                  </a:cubicBezTo>
                  <a:lnTo>
                    <a:pt x="0" y="108539"/>
                  </a:lnTo>
                  <a:cubicBezTo>
                    <a:pt x="0" y="79752"/>
                    <a:pt x="11435" y="52145"/>
                    <a:pt x="31790" y="31790"/>
                  </a:cubicBezTo>
                  <a:cubicBezTo>
                    <a:pt x="52145" y="11435"/>
                    <a:pt x="79752" y="0"/>
                    <a:pt x="10853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1E40">
                    <a:alpha val="100000"/>
                  </a:srgbClr>
                </a:gs>
                <a:gs pos="50000">
                  <a:srgbClr val="832F9B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958095" cy="12074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223157" y="3034150"/>
            <a:ext cx="3439425" cy="4482247"/>
            <a:chOff x="0" y="0"/>
            <a:chExt cx="905857" cy="118050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05857" cy="1180509"/>
            </a:xfrm>
            <a:custGeom>
              <a:avLst/>
              <a:gdLst/>
              <a:ahLst/>
              <a:cxnLst/>
              <a:rect l="l" t="t" r="r" b="b"/>
              <a:pathLst>
                <a:path w="905857" h="1180509">
                  <a:moveTo>
                    <a:pt x="114798" y="0"/>
                  </a:moveTo>
                  <a:lnTo>
                    <a:pt x="791059" y="0"/>
                  </a:lnTo>
                  <a:cubicBezTo>
                    <a:pt x="854460" y="0"/>
                    <a:pt x="905857" y="51397"/>
                    <a:pt x="905857" y="114798"/>
                  </a:cubicBezTo>
                  <a:lnTo>
                    <a:pt x="905857" y="1065712"/>
                  </a:lnTo>
                  <a:cubicBezTo>
                    <a:pt x="905857" y="1129113"/>
                    <a:pt x="854460" y="1180509"/>
                    <a:pt x="791059" y="1180509"/>
                  </a:cubicBezTo>
                  <a:lnTo>
                    <a:pt x="114798" y="1180509"/>
                  </a:lnTo>
                  <a:cubicBezTo>
                    <a:pt x="51397" y="1180509"/>
                    <a:pt x="0" y="1129113"/>
                    <a:pt x="0" y="1065712"/>
                  </a:cubicBezTo>
                  <a:lnTo>
                    <a:pt x="0" y="114798"/>
                  </a:lnTo>
                  <a:cubicBezTo>
                    <a:pt x="0" y="51397"/>
                    <a:pt x="51397" y="0"/>
                    <a:pt x="11479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1E40">
                    <a:alpha val="100000"/>
                  </a:srgbClr>
                </a:gs>
                <a:gs pos="50000">
                  <a:srgbClr val="832F9B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905857" cy="1228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233561" y="3034150"/>
            <a:ext cx="3439425" cy="4482247"/>
            <a:chOff x="0" y="0"/>
            <a:chExt cx="905857" cy="118050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5857" cy="1180509"/>
            </a:xfrm>
            <a:custGeom>
              <a:avLst/>
              <a:gdLst/>
              <a:ahLst/>
              <a:cxnLst/>
              <a:rect l="l" t="t" r="r" b="b"/>
              <a:pathLst>
                <a:path w="905857" h="1180509">
                  <a:moveTo>
                    <a:pt x="114798" y="0"/>
                  </a:moveTo>
                  <a:lnTo>
                    <a:pt x="791059" y="0"/>
                  </a:lnTo>
                  <a:cubicBezTo>
                    <a:pt x="854460" y="0"/>
                    <a:pt x="905857" y="51397"/>
                    <a:pt x="905857" y="114798"/>
                  </a:cubicBezTo>
                  <a:lnTo>
                    <a:pt x="905857" y="1065712"/>
                  </a:lnTo>
                  <a:cubicBezTo>
                    <a:pt x="905857" y="1129113"/>
                    <a:pt x="854460" y="1180509"/>
                    <a:pt x="791059" y="1180509"/>
                  </a:cubicBezTo>
                  <a:lnTo>
                    <a:pt x="114798" y="1180509"/>
                  </a:lnTo>
                  <a:cubicBezTo>
                    <a:pt x="51397" y="1180509"/>
                    <a:pt x="0" y="1129113"/>
                    <a:pt x="0" y="1065712"/>
                  </a:cubicBezTo>
                  <a:lnTo>
                    <a:pt x="0" y="114798"/>
                  </a:lnTo>
                  <a:cubicBezTo>
                    <a:pt x="0" y="51397"/>
                    <a:pt x="51397" y="0"/>
                    <a:pt x="11479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1E40">
                    <a:alpha val="100000"/>
                  </a:srgbClr>
                </a:gs>
                <a:gs pos="50000">
                  <a:srgbClr val="832F9B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905857" cy="1228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04994" y="212985"/>
            <a:ext cx="10495877" cy="2464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2"/>
              </a:lnSpc>
            </a:pPr>
            <a:r>
              <a:rPr lang="en-US" sz="8729" b="1" spc="-3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Stack</a:t>
            </a:r>
          </a:p>
          <a:p>
            <a:pPr algn="l">
              <a:lnSpc>
                <a:spcPts val="9602"/>
              </a:lnSpc>
            </a:pPr>
            <a:endParaRPr lang="en-US" sz="8729" b="1" spc="-34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871567" y="3365684"/>
            <a:ext cx="2117349" cy="8794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FRONTEND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US" sz="2500" dirty="0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698924" y="3365684"/>
            <a:ext cx="4524233" cy="879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BACKEND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US" sz="2500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698924" y="4741440"/>
            <a:ext cx="4524233" cy="808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698924" y="4249086"/>
            <a:ext cx="4524233" cy="808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698924" y="5208599"/>
            <a:ext cx="4524233" cy="808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SQLAlchemy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538755" y="3365684"/>
            <a:ext cx="4524233" cy="879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&amp; AI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US" sz="2500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680753" y="4427606"/>
            <a:ext cx="4524233" cy="808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Prophet (Forecasting)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680753" y="4930959"/>
            <a:ext cx="4524233" cy="1608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 (Database)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Scikit-Learn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NumPy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858760" y="3397435"/>
            <a:ext cx="4524233" cy="441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INTELLIGENCE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401164" y="4556316"/>
            <a:ext cx="3439425" cy="1608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ML model for precise time-series sales forecasting.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479615" y="5156391"/>
            <a:ext cx="2735937" cy="120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Recharts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Data Fetching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 UI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87984" y="4298934"/>
            <a:ext cx="1179944" cy="376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ReactJs</a:t>
            </a:r>
            <a:endParaRPr lang="en-US" sz="23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304182" y="4667437"/>
            <a:ext cx="1179944" cy="376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13796" y="6737615"/>
            <a:ext cx="3530024" cy="3549385"/>
          </a:xfrm>
          <a:custGeom>
            <a:avLst/>
            <a:gdLst/>
            <a:ahLst/>
            <a:cxnLst/>
            <a:rect l="l" t="t" r="r" b="b"/>
            <a:pathLst>
              <a:path w="3530024" h="3549385">
                <a:moveTo>
                  <a:pt x="3530025" y="0"/>
                </a:moveTo>
                <a:lnTo>
                  <a:pt x="0" y="0"/>
                </a:lnTo>
                <a:lnTo>
                  <a:pt x="0" y="3549385"/>
                </a:lnTo>
                <a:lnTo>
                  <a:pt x="3530025" y="3549385"/>
                </a:lnTo>
                <a:lnTo>
                  <a:pt x="353002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2597427" y="6737615"/>
            <a:ext cx="3530024" cy="3549385"/>
          </a:xfrm>
          <a:custGeom>
            <a:avLst/>
            <a:gdLst/>
            <a:ahLst/>
            <a:cxnLst/>
            <a:rect l="l" t="t" r="r" b="b"/>
            <a:pathLst>
              <a:path w="3530024" h="3549385">
                <a:moveTo>
                  <a:pt x="3530024" y="0"/>
                </a:moveTo>
                <a:lnTo>
                  <a:pt x="0" y="0"/>
                </a:lnTo>
                <a:lnTo>
                  <a:pt x="0" y="3549385"/>
                </a:lnTo>
                <a:lnTo>
                  <a:pt x="3530024" y="3549385"/>
                </a:lnTo>
                <a:lnTo>
                  <a:pt x="35300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93855" y="143350"/>
            <a:ext cx="4582979" cy="1270564"/>
            <a:chOff x="0" y="0"/>
            <a:chExt cx="1207040" cy="3346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07040" cy="334634"/>
            </a:xfrm>
            <a:custGeom>
              <a:avLst/>
              <a:gdLst/>
              <a:ahLst/>
              <a:cxnLst/>
              <a:rect l="l" t="t" r="r" b="b"/>
              <a:pathLst>
                <a:path w="1207040" h="334634">
                  <a:moveTo>
                    <a:pt x="167317" y="0"/>
                  </a:moveTo>
                  <a:lnTo>
                    <a:pt x="1039723" y="0"/>
                  </a:lnTo>
                  <a:cubicBezTo>
                    <a:pt x="1084098" y="0"/>
                    <a:pt x="1126656" y="17628"/>
                    <a:pt x="1158034" y="49006"/>
                  </a:cubicBezTo>
                  <a:cubicBezTo>
                    <a:pt x="1189412" y="80384"/>
                    <a:pt x="1207040" y="122942"/>
                    <a:pt x="1207040" y="167317"/>
                  </a:cubicBezTo>
                  <a:lnTo>
                    <a:pt x="1207040" y="167317"/>
                  </a:lnTo>
                  <a:cubicBezTo>
                    <a:pt x="1207040" y="259724"/>
                    <a:pt x="1132129" y="334634"/>
                    <a:pt x="1039723" y="334634"/>
                  </a:cubicBezTo>
                  <a:lnTo>
                    <a:pt x="167317" y="334634"/>
                  </a:lnTo>
                  <a:cubicBezTo>
                    <a:pt x="74910" y="334634"/>
                    <a:pt x="0" y="259724"/>
                    <a:pt x="0" y="167317"/>
                  </a:cubicBezTo>
                  <a:lnTo>
                    <a:pt x="0" y="167317"/>
                  </a:lnTo>
                  <a:cubicBezTo>
                    <a:pt x="0" y="74910"/>
                    <a:pt x="74910" y="0"/>
                    <a:pt x="167317" y="0"/>
                  </a:cubicBez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207040" cy="382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487245" y="3020333"/>
            <a:ext cx="4544556" cy="6356958"/>
          </a:xfrm>
          <a:custGeom>
            <a:avLst/>
            <a:gdLst/>
            <a:ahLst/>
            <a:cxnLst/>
            <a:rect l="l" t="t" r="r" b="b"/>
            <a:pathLst>
              <a:path w="4544556" h="6356958">
                <a:moveTo>
                  <a:pt x="0" y="0"/>
                </a:moveTo>
                <a:lnTo>
                  <a:pt x="4544555" y="0"/>
                </a:lnTo>
                <a:lnTo>
                  <a:pt x="454455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650" b="-3650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53940" y="219550"/>
            <a:ext cx="15725122" cy="124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2"/>
              </a:lnSpc>
            </a:pPr>
            <a:r>
              <a:rPr lang="en-US" sz="8729" b="1" spc="-3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Schema MySQL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3940" y="7814225"/>
            <a:ext cx="4174585" cy="142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03"/>
              </a:lnSpc>
            </a:pPr>
            <a:r>
              <a:rPr lang="en-US" sz="3366" b="1" spc="-13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Optimized storage for faster order fulfillment.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8471" y="2373161"/>
            <a:ext cx="11681964" cy="41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5150" lvl="1" indent="-297575" algn="just">
              <a:lnSpc>
                <a:spcPts val="3032"/>
              </a:lnSpc>
              <a:buFont typeface="Arial"/>
              <a:buChar char="•"/>
            </a:pPr>
            <a:r>
              <a:rPr lang="en-US" sz="2756" b="1" spc="-107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Users</a:t>
            </a:r>
            <a:r>
              <a:rPr lang="en-US" sz="2756" spc="-1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User Id, Role , store_id, Gmail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8471" y="3020333"/>
            <a:ext cx="10302012" cy="1559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5150" lvl="1" indent="-297575" algn="r">
              <a:lnSpc>
                <a:spcPts val="3032"/>
              </a:lnSpc>
              <a:buFont typeface="Arial"/>
              <a:buChar char="•"/>
            </a:pPr>
            <a:r>
              <a:rPr lang="en-US" sz="2756" b="1" spc="-107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Inventory Data</a:t>
            </a:r>
            <a:r>
              <a:rPr lang="en-US" sz="2756" spc="-1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 id,  date ,  store_id ,  product_id , category ,  region,   price </a:t>
            </a:r>
          </a:p>
          <a:p>
            <a:pPr algn="r">
              <a:lnSpc>
                <a:spcPts val="3032"/>
              </a:lnSpc>
            </a:pPr>
            <a:r>
              <a:rPr lang="en-US" sz="2756" spc="-1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discount , competitor_pricing ,inventory_level ,   units_ordered ,                       demand_forecast, holiday_promotion, weather_condition ,        seasonality,    units_sold ,  city,   store_name ,   product_name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3381" y="4727491"/>
            <a:ext cx="11681964" cy="41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5150" lvl="1" indent="-297575" algn="just">
              <a:lnSpc>
                <a:spcPts val="3032"/>
              </a:lnSpc>
              <a:buFont typeface="Arial"/>
              <a:buChar char="•"/>
            </a:pPr>
            <a:r>
              <a:rPr lang="en-US" sz="2756" b="1" spc="-107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Sales Records-</a:t>
            </a:r>
            <a:r>
              <a:rPr lang="en-US" sz="2756" spc="-1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Historical sales data for Model traning.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14418" y="2049598"/>
            <a:ext cx="9767500" cy="5919406"/>
            <a:chOff x="0" y="0"/>
            <a:chExt cx="1513241" cy="9170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3241" cy="917071"/>
            </a:xfrm>
            <a:custGeom>
              <a:avLst/>
              <a:gdLst/>
              <a:ahLst/>
              <a:cxnLst/>
              <a:rect l="l" t="t" r="r" b="b"/>
              <a:pathLst>
                <a:path w="1513241" h="917071">
                  <a:moveTo>
                    <a:pt x="50728" y="0"/>
                  </a:moveTo>
                  <a:lnTo>
                    <a:pt x="1462514" y="0"/>
                  </a:lnTo>
                  <a:cubicBezTo>
                    <a:pt x="1475967" y="0"/>
                    <a:pt x="1488870" y="5345"/>
                    <a:pt x="1498384" y="14858"/>
                  </a:cubicBezTo>
                  <a:cubicBezTo>
                    <a:pt x="1507897" y="24371"/>
                    <a:pt x="1513241" y="37274"/>
                    <a:pt x="1513241" y="50728"/>
                  </a:cubicBezTo>
                  <a:lnTo>
                    <a:pt x="1513241" y="866343"/>
                  </a:lnTo>
                  <a:cubicBezTo>
                    <a:pt x="1513241" y="894359"/>
                    <a:pt x="1490530" y="917071"/>
                    <a:pt x="1462514" y="917071"/>
                  </a:cubicBezTo>
                  <a:lnTo>
                    <a:pt x="50728" y="917071"/>
                  </a:lnTo>
                  <a:cubicBezTo>
                    <a:pt x="37274" y="917071"/>
                    <a:pt x="24371" y="911726"/>
                    <a:pt x="14858" y="902213"/>
                  </a:cubicBezTo>
                  <a:cubicBezTo>
                    <a:pt x="5345" y="892700"/>
                    <a:pt x="0" y="879797"/>
                    <a:pt x="0" y="866343"/>
                  </a:cubicBezTo>
                  <a:lnTo>
                    <a:pt x="0" y="50728"/>
                  </a:lnTo>
                  <a:cubicBezTo>
                    <a:pt x="0" y="37274"/>
                    <a:pt x="5345" y="24371"/>
                    <a:pt x="14858" y="14858"/>
                  </a:cubicBezTo>
                  <a:cubicBezTo>
                    <a:pt x="24371" y="5345"/>
                    <a:pt x="37274" y="0"/>
                    <a:pt x="50728" y="0"/>
                  </a:cubicBezTo>
                  <a:close/>
                </a:path>
              </a:pathLst>
            </a:custGeom>
            <a:blipFill>
              <a:blip r:embed="rId2"/>
              <a:stretch>
                <a:fillRect l="-7443" r="-744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444771" y="382087"/>
            <a:ext cx="4582979" cy="1270564"/>
            <a:chOff x="0" y="0"/>
            <a:chExt cx="1207040" cy="3346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07040" cy="334634"/>
            </a:xfrm>
            <a:custGeom>
              <a:avLst/>
              <a:gdLst/>
              <a:ahLst/>
              <a:cxnLst/>
              <a:rect l="l" t="t" r="r" b="b"/>
              <a:pathLst>
                <a:path w="1207040" h="334634">
                  <a:moveTo>
                    <a:pt x="167317" y="0"/>
                  </a:moveTo>
                  <a:lnTo>
                    <a:pt x="1039723" y="0"/>
                  </a:lnTo>
                  <a:cubicBezTo>
                    <a:pt x="1084098" y="0"/>
                    <a:pt x="1126656" y="17628"/>
                    <a:pt x="1158034" y="49006"/>
                  </a:cubicBezTo>
                  <a:cubicBezTo>
                    <a:pt x="1189412" y="80384"/>
                    <a:pt x="1207040" y="122942"/>
                    <a:pt x="1207040" y="167317"/>
                  </a:cubicBezTo>
                  <a:lnTo>
                    <a:pt x="1207040" y="167317"/>
                  </a:lnTo>
                  <a:cubicBezTo>
                    <a:pt x="1207040" y="259724"/>
                    <a:pt x="1132129" y="334634"/>
                    <a:pt x="1039723" y="334634"/>
                  </a:cubicBezTo>
                  <a:lnTo>
                    <a:pt x="167317" y="334634"/>
                  </a:lnTo>
                  <a:cubicBezTo>
                    <a:pt x="74910" y="334634"/>
                    <a:pt x="0" y="259724"/>
                    <a:pt x="0" y="167317"/>
                  </a:cubicBezTo>
                  <a:lnTo>
                    <a:pt x="0" y="167317"/>
                  </a:lnTo>
                  <a:cubicBezTo>
                    <a:pt x="0" y="74910"/>
                    <a:pt x="74910" y="0"/>
                    <a:pt x="167317" y="0"/>
                  </a:cubicBez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207040" cy="382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395171" y="5265814"/>
            <a:ext cx="5602199" cy="1762146"/>
          </a:xfrm>
          <a:custGeom>
            <a:avLst/>
            <a:gdLst/>
            <a:ahLst/>
            <a:cxnLst/>
            <a:rect l="l" t="t" r="r" b="b"/>
            <a:pathLst>
              <a:path w="5602199" h="1762146">
                <a:moveTo>
                  <a:pt x="0" y="0"/>
                </a:moveTo>
                <a:lnTo>
                  <a:pt x="5602199" y="0"/>
                </a:lnTo>
                <a:lnTo>
                  <a:pt x="5602199" y="1762147"/>
                </a:lnTo>
                <a:lnTo>
                  <a:pt x="0" y="17621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95171" y="402852"/>
            <a:ext cx="13457419" cy="124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2"/>
              </a:lnSpc>
            </a:pPr>
            <a:r>
              <a:rPr lang="en-US" sz="8729" b="1" spc="-3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Trained Forecast Model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9278" y="2205381"/>
            <a:ext cx="6667322" cy="446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Training: The </a:t>
            </a:r>
            <a:r>
              <a:rPr lang="en-US" sz="2700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XGBoost</a:t>
            </a:r>
            <a:r>
              <a:rPr lang="en-US" sz="27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Powerhouse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3835" y="3292698"/>
            <a:ext cx="6133922" cy="376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96575" lvl="1" indent="-248288" algn="ctr">
              <a:lnSpc>
                <a:spcPts val="3220"/>
              </a:lnSpc>
              <a:buFont typeface="Arial"/>
              <a:buChar char="•"/>
            </a:pPr>
            <a:r>
              <a:rPr lang="en-US" sz="23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n_estimators</a:t>
            </a:r>
            <a:r>
              <a:rPr lang="en-US" sz="23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=300: Number of boosting rounds.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9278" y="3841046"/>
            <a:ext cx="5723037" cy="376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23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max_depth</a:t>
            </a:r>
            <a:r>
              <a:rPr lang="en-US" sz="23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=10: Maximum depth of each tree.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1401" y="4403638"/>
            <a:ext cx="7353122" cy="376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23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learning_rate</a:t>
            </a:r>
            <a:r>
              <a:rPr lang="en-US" sz="23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=0.1: Step size shrinkage to prevent overfitting.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9234" y="5571276"/>
            <a:ext cx="5458136" cy="1485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2"/>
              </a:lnSpc>
              <a:spcBef>
                <a:spcPct val="0"/>
              </a:spcBef>
            </a:pPr>
            <a:r>
              <a:rPr lang="en-US" sz="213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leveraging Extreme Gradient Boosting, our system identifies non-linear sales patterns that traditional models miss.</a:t>
            </a:r>
          </a:p>
          <a:p>
            <a:pPr algn="l">
              <a:lnSpc>
                <a:spcPts val="2982"/>
              </a:lnSpc>
              <a:spcBef>
                <a:spcPct val="0"/>
              </a:spcBef>
            </a:pPr>
            <a:endParaRPr lang="en-US" sz="213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395171" y="7399348"/>
            <a:ext cx="5602199" cy="1762146"/>
          </a:xfrm>
          <a:custGeom>
            <a:avLst/>
            <a:gdLst/>
            <a:ahLst/>
            <a:cxnLst/>
            <a:rect l="l" t="t" r="r" b="b"/>
            <a:pathLst>
              <a:path w="5602199" h="1762146">
                <a:moveTo>
                  <a:pt x="0" y="0"/>
                </a:moveTo>
                <a:lnTo>
                  <a:pt x="5602199" y="0"/>
                </a:lnTo>
                <a:lnTo>
                  <a:pt x="5602199" y="1762146"/>
                </a:lnTo>
                <a:lnTo>
                  <a:pt x="0" y="1762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234" y="7487011"/>
            <a:ext cx="4942583" cy="2008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processes historical sales volume, seasonality, and localized trends to predict future demand with over 92% accuracy.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641" y="136325"/>
            <a:ext cx="4909470" cy="1270564"/>
            <a:chOff x="0" y="0"/>
            <a:chExt cx="1293029" cy="3346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3029" cy="334634"/>
            </a:xfrm>
            <a:custGeom>
              <a:avLst/>
              <a:gdLst/>
              <a:ahLst/>
              <a:cxnLst/>
              <a:rect l="l" t="t" r="r" b="b"/>
              <a:pathLst>
                <a:path w="1293029" h="334634">
                  <a:moveTo>
                    <a:pt x="157694" y="0"/>
                  </a:moveTo>
                  <a:lnTo>
                    <a:pt x="1135336" y="0"/>
                  </a:lnTo>
                  <a:cubicBezTo>
                    <a:pt x="1222427" y="0"/>
                    <a:pt x="1293029" y="70602"/>
                    <a:pt x="1293029" y="157694"/>
                  </a:cubicBezTo>
                  <a:lnTo>
                    <a:pt x="1293029" y="176941"/>
                  </a:lnTo>
                  <a:cubicBezTo>
                    <a:pt x="1293029" y="218764"/>
                    <a:pt x="1276415" y="258874"/>
                    <a:pt x="1246842" y="288447"/>
                  </a:cubicBezTo>
                  <a:cubicBezTo>
                    <a:pt x="1217269" y="318020"/>
                    <a:pt x="1177159" y="334634"/>
                    <a:pt x="1135336" y="334634"/>
                  </a:cubicBezTo>
                  <a:lnTo>
                    <a:pt x="157694" y="334634"/>
                  </a:lnTo>
                  <a:cubicBezTo>
                    <a:pt x="70602" y="334634"/>
                    <a:pt x="0" y="264032"/>
                    <a:pt x="0" y="176941"/>
                  </a:cubicBezTo>
                  <a:lnTo>
                    <a:pt x="0" y="157694"/>
                  </a:lnTo>
                  <a:cubicBezTo>
                    <a:pt x="0" y="115871"/>
                    <a:pt x="16614" y="75761"/>
                    <a:pt x="46187" y="46187"/>
                  </a:cubicBezTo>
                  <a:cubicBezTo>
                    <a:pt x="75761" y="16614"/>
                    <a:pt x="115871" y="0"/>
                    <a:pt x="157694" y="0"/>
                  </a:cubicBez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93029" cy="382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174245" y="7861135"/>
            <a:ext cx="2845052" cy="2860655"/>
          </a:xfrm>
          <a:custGeom>
            <a:avLst/>
            <a:gdLst/>
            <a:ahLst/>
            <a:cxnLst/>
            <a:rect l="l" t="t" r="r" b="b"/>
            <a:pathLst>
              <a:path w="2845052" h="2860655">
                <a:moveTo>
                  <a:pt x="0" y="0"/>
                </a:moveTo>
                <a:lnTo>
                  <a:pt x="2845052" y="0"/>
                </a:lnTo>
                <a:lnTo>
                  <a:pt x="2845052" y="2860655"/>
                </a:lnTo>
                <a:lnTo>
                  <a:pt x="0" y="28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306939" y="7739923"/>
            <a:ext cx="3009636" cy="3026142"/>
          </a:xfrm>
          <a:custGeom>
            <a:avLst/>
            <a:gdLst/>
            <a:ahLst/>
            <a:cxnLst/>
            <a:rect l="l" t="t" r="r" b="b"/>
            <a:pathLst>
              <a:path w="3009636" h="3026142">
                <a:moveTo>
                  <a:pt x="0" y="0"/>
                </a:moveTo>
                <a:lnTo>
                  <a:pt x="3009636" y="0"/>
                </a:lnTo>
                <a:lnTo>
                  <a:pt x="3009636" y="3026142"/>
                </a:lnTo>
                <a:lnTo>
                  <a:pt x="0" y="30261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3238" y="64255"/>
            <a:ext cx="846505" cy="864839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10811523" y="835389"/>
            <a:ext cx="7505052" cy="1329893"/>
            <a:chOff x="0" y="0"/>
            <a:chExt cx="1976639" cy="3502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76639" cy="350260"/>
            </a:xfrm>
            <a:custGeom>
              <a:avLst/>
              <a:gdLst/>
              <a:ahLst/>
              <a:cxnLst/>
              <a:rect l="l" t="t" r="r" b="b"/>
              <a:pathLst>
                <a:path w="1976639" h="350260">
                  <a:moveTo>
                    <a:pt x="1773439" y="0"/>
                  </a:moveTo>
                  <a:lnTo>
                    <a:pt x="203200" y="0"/>
                  </a:lnTo>
                  <a:lnTo>
                    <a:pt x="0" y="175130"/>
                  </a:lnTo>
                  <a:lnTo>
                    <a:pt x="203200" y="350260"/>
                  </a:lnTo>
                  <a:lnTo>
                    <a:pt x="1773439" y="350260"/>
                  </a:lnTo>
                  <a:lnTo>
                    <a:pt x="1976639" y="175130"/>
                  </a:lnTo>
                  <a:lnTo>
                    <a:pt x="1773439" y="0"/>
                  </a:lnTo>
                  <a:close/>
                </a:path>
              </a:pathLst>
            </a:custGeom>
            <a:gradFill rotWithShape="1">
              <a:gsLst>
                <a:gs pos="0">
                  <a:srgbClr val="27A3A8">
                    <a:alpha val="100000"/>
                  </a:srgbClr>
                </a:gs>
                <a:gs pos="100000">
                  <a:srgbClr val="042A5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152400" y="-66675"/>
              <a:ext cx="1671839" cy="4169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96575" lvl="1" indent="-248288" algn="ctr">
                <a:lnSpc>
                  <a:spcPts val="3220"/>
                </a:lnSpc>
                <a:buFont typeface="Arial"/>
                <a:buChar char="•"/>
              </a:pPr>
              <a:r>
                <a:rPr lang="en-US" sz="2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API &amp; Authentication Architecture-</a:t>
              </a:r>
            </a:p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Backend API Framework: FastAPI</a:t>
              </a:r>
            </a:p>
            <a:p>
              <a:pPr algn="ctr">
                <a:lnSpc>
                  <a:spcPts val="3220"/>
                </a:lnSpc>
              </a:pPr>
              <a:endPara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3238" y="2207356"/>
            <a:ext cx="846505" cy="864839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10877655" y="3000126"/>
            <a:ext cx="7372787" cy="1749529"/>
            <a:chOff x="0" y="0"/>
            <a:chExt cx="1941804" cy="46078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41804" cy="460781"/>
            </a:xfrm>
            <a:custGeom>
              <a:avLst/>
              <a:gdLst/>
              <a:ahLst/>
              <a:cxnLst/>
              <a:rect l="l" t="t" r="r" b="b"/>
              <a:pathLst>
                <a:path w="1941804" h="460781">
                  <a:moveTo>
                    <a:pt x="1738604" y="0"/>
                  </a:moveTo>
                  <a:lnTo>
                    <a:pt x="203200" y="0"/>
                  </a:lnTo>
                  <a:lnTo>
                    <a:pt x="0" y="230391"/>
                  </a:lnTo>
                  <a:lnTo>
                    <a:pt x="203200" y="460781"/>
                  </a:lnTo>
                  <a:lnTo>
                    <a:pt x="1738604" y="460781"/>
                  </a:lnTo>
                  <a:lnTo>
                    <a:pt x="1941804" y="230391"/>
                  </a:lnTo>
                  <a:lnTo>
                    <a:pt x="173860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152400" y="-57150"/>
              <a:ext cx="1637004" cy="517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18165" lvl="1" indent="-259082" algn="ctr">
                <a:lnSpc>
                  <a:spcPts val="3360"/>
                </a:lnSpc>
                <a:buFont typeface="Arial"/>
                <a:buChar char="•"/>
              </a:pPr>
              <a:r>
                <a:rPr lang="en-US" sz="24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Authentication &amp; Security-</a:t>
              </a:r>
            </a:p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Authentication Service: -</a:t>
              </a:r>
            </a:p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Firebase Authentication</a:t>
              </a:r>
            </a:p>
            <a:p>
              <a:pPr algn="ctr">
                <a:lnSpc>
                  <a:spcPts val="3220"/>
                </a:lnSpc>
              </a:pPr>
              <a:endPara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6931" y="4865275"/>
            <a:ext cx="846505" cy="864839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11165308" y="5483685"/>
            <a:ext cx="7122692" cy="2530043"/>
            <a:chOff x="0" y="0"/>
            <a:chExt cx="1875935" cy="66634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75935" cy="666349"/>
            </a:xfrm>
            <a:custGeom>
              <a:avLst/>
              <a:gdLst/>
              <a:ahLst/>
              <a:cxnLst/>
              <a:rect l="l" t="t" r="r" b="b"/>
              <a:pathLst>
                <a:path w="1875935" h="666349">
                  <a:moveTo>
                    <a:pt x="1672735" y="0"/>
                  </a:moveTo>
                  <a:lnTo>
                    <a:pt x="203200" y="0"/>
                  </a:lnTo>
                  <a:lnTo>
                    <a:pt x="0" y="333174"/>
                  </a:lnTo>
                  <a:lnTo>
                    <a:pt x="203200" y="666349"/>
                  </a:lnTo>
                  <a:lnTo>
                    <a:pt x="1672735" y="666349"/>
                  </a:lnTo>
                  <a:lnTo>
                    <a:pt x="1875935" y="333174"/>
                  </a:lnTo>
                  <a:lnTo>
                    <a:pt x="1672735" y="0"/>
                  </a:lnTo>
                  <a:close/>
                </a:path>
              </a:pathLst>
            </a:custGeom>
            <a:gradFill rotWithShape="1">
              <a:gsLst>
                <a:gs pos="0">
                  <a:srgbClr val="25969B">
                    <a:alpha val="100000"/>
                  </a:srgbClr>
                </a:gs>
                <a:gs pos="100000">
                  <a:srgbClr val="042A5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152400" y="-66675"/>
              <a:ext cx="1571135" cy="733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96575" lvl="1" indent="-248288" algn="ctr">
                <a:lnSpc>
                  <a:spcPts val="3220"/>
                </a:lnSpc>
                <a:buFont typeface="Arial"/>
                <a:buChar char="•"/>
              </a:pPr>
              <a:r>
                <a:rPr lang="en-US" sz="2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Role-Based Access Control</a:t>
              </a:r>
            </a:p>
            <a:p>
              <a:pPr marL="496575" lvl="1" indent="-248288" algn="l">
                <a:lnSpc>
                  <a:spcPts val="3220"/>
                </a:lnSpc>
                <a:buAutoNum type="arabicPeriod"/>
              </a:pPr>
              <a:r>
                <a:rPr lang="en-US" sz="2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Admin Role- </a:t>
              </a:r>
              <a:r>
                <a:rPr lang="en-US" sz="2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Full access to all application pages</a:t>
              </a:r>
            </a:p>
            <a:p>
              <a:pPr marL="496575" lvl="1" indent="-248288" algn="l">
                <a:lnSpc>
                  <a:spcPts val="3220"/>
                </a:lnSpc>
                <a:buAutoNum type="arabicPeriod"/>
              </a:pPr>
              <a:r>
                <a:rPr lang="en-US" sz="2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Store Manager Role-</a:t>
              </a:r>
              <a:r>
                <a:rPr lang="en-US" sz="2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Restricted access based on assigned store ID</a:t>
              </a:r>
            </a:p>
            <a:p>
              <a:pPr algn="ctr">
                <a:lnSpc>
                  <a:spcPts val="3220"/>
                </a:lnSpc>
              </a:pPr>
              <a:endPara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35140" y="157090"/>
            <a:ext cx="9187943" cy="124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2"/>
              </a:lnSpc>
            </a:pPr>
            <a:r>
              <a:rPr lang="en-US" sz="8729" b="1" spc="-3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Authentication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28700" y="1959339"/>
            <a:ext cx="9782823" cy="5580630"/>
            <a:chOff x="0" y="0"/>
            <a:chExt cx="1515615" cy="86458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15615" cy="864586"/>
            </a:xfrm>
            <a:custGeom>
              <a:avLst/>
              <a:gdLst/>
              <a:ahLst/>
              <a:cxnLst/>
              <a:rect l="l" t="t" r="r" b="b"/>
              <a:pathLst>
                <a:path w="1515615" h="864586">
                  <a:moveTo>
                    <a:pt x="50648" y="0"/>
                  </a:moveTo>
                  <a:lnTo>
                    <a:pt x="1464967" y="0"/>
                  </a:lnTo>
                  <a:cubicBezTo>
                    <a:pt x="1492939" y="0"/>
                    <a:pt x="1515615" y="22676"/>
                    <a:pt x="1515615" y="50648"/>
                  </a:cubicBezTo>
                  <a:lnTo>
                    <a:pt x="1515615" y="813937"/>
                  </a:lnTo>
                  <a:cubicBezTo>
                    <a:pt x="1515615" y="827370"/>
                    <a:pt x="1510279" y="840253"/>
                    <a:pt x="1500781" y="849751"/>
                  </a:cubicBezTo>
                  <a:cubicBezTo>
                    <a:pt x="1491282" y="859249"/>
                    <a:pt x="1478400" y="864586"/>
                    <a:pt x="1464967" y="864586"/>
                  </a:cubicBezTo>
                  <a:lnTo>
                    <a:pt x="50648" y="864586"/>
                  </a:lnTo>
                  <a:cubicBezTo>
                    <a:pt x="37216" y="864586"/>
                    <a:pt x="24333" y="859249"/>
                    <a:pt x="14835" y="849751"/>
                  </a:cubicBezTo>
                  <a:cubicBezTo>
                    <a:pt x="5336" y="840253"/>
                    <a:pt x="0" y="827370"/>
                    <a:pt x="0" y="813937"/>
                  </a:cubicBezTo>
                  <a:lnTo>
                    <a:pt x="0" y="50648"/>
                  </a:lnTo>
                  <a:cubicBezTo>
                    <a:pt x="0" y="37216"/>
                    <a:pt x="5336" y="24333"/>
                    <a:pt x="14835" y="14835"/>
                  </a:cubicBezTo>
                  <a:cubicBezTo>
                    <a:pt x="24333" y="5336"/>
                    <a:pt x="37216" y="0"/>
                    <a:pt x="50648" y="0"/>
                  </a:cubicBezTo>
                  <a:close/>
                </a:path>
              </a:pathLst>
            </a:custGeom>
            <a:blipFill>
              <a:blip r:embed="rId7"/>
              <a:stretch>
                <a:fillRect t="-37649" b="-37649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0953" y="1859498"/>
            <a:ext cx="11921417" cy="4269878"/>
            <a:chOff x="0" y="0"/>
            <a:chExt cx="1846939" cy="6615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46940" cy="661516"/>
            </a:xfrm>
            <a:custGeom>
              <a:avLst/>
              <a:gdLst/>
              <a:ahLst/>
              <a:cxnLst/>
              <a:rect l="l" t="t" r="r" b="b"/>
              <a:pathLst>
                <a:path w="1846940" h="661516">
                  <a:moveTo>
                    <a:pt x="41562" y="0"/>
                  </a:moveTo>
                  <a:lnTo>
                    <a:pt x="1805377" y="0"/>
                  </a:lnTo>
                  <a:cubicBezTo>
                    <a:pt x="1828331" y="0"/>
                    <a:pt x="1846940" y="18608"/>
                    <a:pt x="1846940" y="41562"/>
                  </a:cubicBezTo>
                  <a:lnTo>
                    <a:pt x="1846940" y="619953"/>
                  </a:lnTo>
                  <a:cubicBezTo>
                    <a:pt x="1846940" y="642908"/>
                    <a:pt x="1828331" y="661516"/>
                    <a:pt x="1805377" y="661516"/>
                  </a:cubicBezTo>
                  <a:lnTo>
                    <a:pt x="41562" y="661516"/>
                  </a:lnTo>
                  <a:cubicBezTo>
                    <a:pt x="18608" y="661516"/>
                    <a:pt x="0" y="642908"/>
                    <a:pt x="0" y="619953"/>
                  </a:cubicBezTo>
                  <a:lnTo>
                    <a:pt x="0" y="41562"/>
                  </a:lnTo>
                  <a:cubicBezTo>
                    <a:pt x="0" y="18608"/>
                    <a:pt x="18608" y="0"/>
                    <a:pt x="41562" y="0"/>
                  </a:cubicBezTo>
                  <a:close/>
                </a:path>
              </a:pathLst>
            </a:custGeom>
            <a:blipFill>
              <a:blip r:embed="rId2"/>
              <a:stretch>
                <a:fillRect t="-43007" b="-4300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19261" y="181073"/>
            <a:ext cx="5673109" cy="1270564"/>
            <a:chOff x="0" y="0"/>
            <a:chExt cx="1494152" cy="3346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94152" cy="334634"/>
            </a:xfrm>
            <a:custGeom>
              <a:avLst/>
              <a:gdLst/>
              <a:ahLst/>
              <a:cxnLst/>
              <a:rect l="l" t="t" r="r" b="b"/>
              <a:pathLst>
                <a:path w="1494152" h="334634">
                  <a:moveTo>
                    <a:pt x="136467" y="0"/>
                  </a:moveTo>
                  <a:lnTo>
                    <a:pt x="1357685" y="0"/>
                  </a:lnTo>
                  <a:cubicBezTo>
                    <a:pt x="1433054" y="0"/>
                    <a:pt x="1494152" y="61098"/>
                    <a:pt x="1494152" y="136467"/>
                  </a:cubicBezTo>
                  <a:lnTo>
                    <a:pt x="1494152" y="198167"/>
                  </a:lnTo>
                  <a:cubicBezTo>
                    <a:pt x="1494152" y="273536"/>
                    <a:pt x="1433054" y="334634"/>
                    <a:pt x="1357685" y="334634"/>
                  </a:cubicBezTo>
                  <a:lnTo>
                    <a:pt x="136467" y="334634"/>
                  </a:lnTo>
                  <a:cubicBezTo>
                    <a:pt x="61098" y="334634"/>
                    <a:pt x="0" y="273536"/>
                    <a:pt x="0" y="198167"/>
                  </a:cubicBezTo>
                  <a:lnTo>
                    <a:pt x="0" y="136467"/>
                  </a:lnTo>
                  <a:cubicBezTo>
                    <a:pt x="0" y="61098"/>
                    <a:pt x="61098" y="0"/>
                    <a:pt x="136467" y="0"/>
                  </a:cubicBez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494152" cy="382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485326" y="2300285"/>
            <a:ext cx="3369822" cy="3388304"/>
          </a:xfrm>
          <a:custGeom>
            <a:avLst/>
            <a:gdLst/>
            <a:ahLst/>
            <a:cxnLst/>
            <a:rect l="l" t="t" r="r" b="b"/>
            <a:pathLst>
              <a:path w="3369822" h="3388304">
                <a:moveTo>
                  <a:pt x="0" y="0"/>
                </a:moveTo>
                <a:lnTo>
                  <a:pt x="3369822" y="0"/>
                </a:lnTo>
                <a:lnTo>
                  <a:pt x="3369822" y="3388304"/>
                </a:lnTo>
                <a:lnTo>
                  <a:pt x="0" y="33883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485326" y="6104905"/>
            <a:ext cx="3369822" cy="3388304"/>
          </a:xfrm>
          <a:custGeom>
            <a:avLst/>
            <a:gdLst/>
            <a:ahLst/>
            <a:cxnLst/>
            <a:rect l="l" t="t" r="r" b="b"/>
            <a:pathLst>
              <a:path w="3369822" h="3388304">
                <a:moveTo>
                  <a:pt x="0" y="0"/>
                </a:moveTo>
                <a:lnTo>
                  <a:pt x="3369822" y="0"/>
                </a:lnTo>
                <a:lnTo>
                  <a:pt x="3369822" y="3388304"/>
                </a:lnTo>
                <a:lnTo>
                  <a:pt x="0" y="33883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470317" y="6752819"/>
            <a:ext cx="4697888" cy="1477699"/>
          </a:xfrm>
          <a:custGeom>
            <a:avLst/>
            <a:gdLst/>
            <a:ahLst/>
            <a:cxnLst/>
            <a:rect l="l" t="t" r="r" b="b"/>
            <a:pathLst>
              <a:path w="4697888" h="1477699">
                <a:moveTo>
                  <a:pt x="0" y="0"/>
                </a:moveTo>
                <a:lnTo>
                  <a:pt x="4697888" y="0"/>
                </a:lnTo>
                <a:lnTo>
                  <a:pt x="4697888" y="1477699"/>
                </a:lnTo>
                <a:lnTo>
                  <a:pt x="0" y="1477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92497" y="257273"/>
            <a:ext cx="12364798" cy="124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2"/>
              </a:lnSpc>
            </a:pPr>
            <a:r>
              <a:rPr lang="en-US" sz="8729" b="1" spc="-3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INVENTORY ALERTS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1466" y="6912894"/>
            <a:ext cx="2977534" cy="13176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Stock Alert</a:t>
            </a:r>
          </a:p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Empty Stock Alert</a:t>
            </a:r>
          </a:p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Reorder Alert.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72267" y="7167529"/>
            <a:ext cx="4293989" cy="808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Alert = Predicted Sale &gt; Inventory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0" y="9191625"/>
            <a:ext cx="9144000" cy="408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5" lvl="1" indent="-248288" algn="ctr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system suggests reorder for Low and Empty stock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25819" y="433108"/>
            <a:ext cx="6518181" cy="1361870"/>
            <a:chOff x="0" y="0"/>
            <a:chExt cx="1601626" cy="3346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01626" cy="334634"/>
            </a:xfrm>
            <a:custGeom>
              <a:avLst/>
              <a:gdLst/>
              <a:ahLst/>
              <a:cxnLst/>
              <a:rect l="l" t="t" r="r" b="b"/>
              <a:pathLst>
                <a:path w="1601626" h="334634">
                  <a:moveTo>
                    <a:pt x="118774" y="0"/>
                  </a:moveTo>
                  <a:lnTo>
                    <a:pt x="1482852" y="0"/>
                  </a:lnTo>
                  <a:cubicBezTo>
                    <a:pt x="1514353" y="0"/>
                    <a:pt x="1544564" y="12514"/>
                    <a:pt x="1566838" y="34788"/>
                  </a:cubicBezTo>
                  <a:cubicBezTo>
                    <a:pt x="1589113" y="57063"/>
                    <a:pt x="1601626" y="87273"/>
                    <a:pt x="1601626" y="118774"/>
                  </a:cubicBezTo>
                  <a:lnTo>
                    <a:pt x="1601626" y="215860"/>
                  </a:lnTo>
                  <a:cubicBezTo>
                    <a:pt x="1601626" y="247361"/>
                    <a:pt x="1589113" y="277572"/>
                    <a:pt x="1566838" y="299846"/>
                  </a:cubicBezTo>
                  <a:cubicBezTo>
                    <a:pt x="1544564" y="322121"/>
                    <a:pt x="1514353" y="334634"/>
                    <a:pt x="1482852" y="334634"/>
                  </a:cubicBezTo>
                  <a:lnTo>
                    <a:pt x="118774" y="334634"/>
                  </a:lnTo>
                  <a:cubicBezTo>
                    <a:pt x="87273" y="334634"/>
                    <a:pt x="57063" y="322121"/>
                    <a:pt x="34788" y="299846"/>
                  </a:cubicBezTo>
                  <a:cubicBezTo>
                    <a:pt x="12514" y="277572"/>
                    <a:pt x="0" y="247361"/>
                    <a:pt x="0" y="215860"/>
                  </a:cubicBezTo>
                  <a:lnTo>
                    <a:pt x="0" y="118774"/>
                  </a:lnTo>
                  <a:cubicBezTo>
                    <a:pt x="0" y="87273"/>
                    <a:pt x="12514" y="57063"/>
                    <a:pt x="34788" y="34788"/>
                  </a:cubicBezTo>
                  <a:cubicBezTo>
                    <a:pt x="57063" y="12514"/>
                    <a:pt x="87273" y="0"/>
                    <a:pt x="118774" y="0"/>
                  </a:cubicBez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01626" cy="382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533994" y="403398"/>
            <a:ext cx="1856427" cy="1866608"/>
          </a:xfrm>
          <a:custGeom>
            <a:avLst/>
            <a:gdLst/>
            <a:ahLst/>
            <a:cxnLst/>
            <a:rect l="l" t="t" r="r" b="b"/>
            <a:pathLst>
              <a:path w="1856427" h="1866608">
                <a:moveTo>
                  <a:pt x="0" y="0"/>
                </a:moveTo>
                <a:lnTo>
                  <a:pt x="1856427" y="0"/>
                </a:lnTo>
                <a:lnTo>
                  <a:pt x="1856427" y="1866609"/>
                </a:lnTo>
                <a:lnTo>
                  <a:pt x="0" y="1866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853214" y="7863500"/>
            <a:ext cx="1856427" cy="1866608"/>
          </a:xfrm>
          <a:custGeom>
            <a:avLst/>
            <a:gdLst/>
            <a:ahLst/>
            <a:cxnLst/>
            <a:rect l="l" t="t" r="r" b="b"/>
            <a:pathLst>
              <a:path w="1856427" h="1866608">
                <a:moveTo>
                  <a:pt x="0" y="0"/>
                </a:moveTo>
                <a:lnTo>
                  <a:pt x="1856427" y="0"/>
                </a:lnTo>
                <a:lnTo>
                  <a:pt x="1856427" y="1866608"/>
                </a:lnTo>
                <a:lnTo>
                  <a:pt x="0" y="1866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23756" y="2507993"/>
            <a:ext cx="5161154" cy="581803"/>
          </a:xfrm>
          <a:custGeom>
            <a:avLst/>
            <a:gdLst/>
            <a:ahLst/>
            <a:cxnLst/>
            <a:rect l="l" t="t" r="r" b="b"/>
            <a:pathLst>
              <a:path w="5161154" h="581803">
                <a:moveTo>
                  <a:pt x="0" y="0"/>
                </a:moveTo>
                <a:lnTo>
                  <a:pt x="5161154" y="0"/>
                </a:lnTo>
                <a:lnTo>
                  <a:pt x="5161154" y="581803"/>
                </a:lnTo>
                <a:lnTo>
                  <a:pt x="0" y="581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00544" y="3716498"/>
            <a:ext cx="5161154" cy="581803"/>
          </a:xfrm>
          <a:custGeom>
            <a:avLst/>
            <a:gdLst/>
            <a:ahLst/>
            <a:cxnLst/>
            <a:rect l="l" t="t" r="r" b="b"/>
            <a:pathLst>
              <a:path w="5161154" h="581803">
                <a:moveTo>
                  <a:pt x="0" y="0"/>
                </a:moveTo>
                <a:lnTo>
                  <a:pt x="5161153" y="0"/>
                </a:lnTo>
                <a:lnTo>
                  <a:pt x="5161153" y="581803"/>
                </a:lnTo>
                <a:lnTo>
                  <a:pt x="0" y="581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00544" y="4926951"/>
            <a:ext cx="5161154" cy="581803"/>
          </a:xfrm>
          <a:custGeom>
            <a:avLst/>
            <a:gdLst/>
            <a:ahLst/>
            <a:cxnLst/>
            <a:rect l="l" t="t" r="r" b="b"/>
            <a:pathLst>
              <a:path w="5161154" h="581803">
                <a:moveTo>
                  <a:pt x="0" y="0"/>
                </a:moveTo>
                <a:lnTo>
                  <a:pt x="5161153" y="0"/>
                </a:lnTo>
                <a:lnTo>
                  <a:pt x="5161153" y="581803"/>
                </a:lnTo>
                <a:lnTo>
                  <a:pt x="0" y="581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33052" y="6109087"/>
            <a:ext cx="5161154" cy="581803"/>
          </a:xfrm>
          <a:custGeom>
            <a:avLst/>
            <a:gdLst/>
            <a:ahLst/>
            <a:cxnLst/>
            <a:rect l="l" t="t" r="r" b="b"/>
            <a:pathLst>
              <a:path w="5161154" h="581803">
                <a:moveTo>
                  <a:pt x="0" y="0"/>
                </a:moveTo>
                <a:lnTo>
                  <a:pt x="5161154" y="0"/>
                </a:lnTo>
                <a:lnTo>
                  <a:pt x="5161154" y="581802"/>
                </a:lnTo>
                <a:lnTo>
                  <a:pt x="0" y="581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00544" y="3731175"/>
            <a:ext cx="5161154" cy="441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Stores in City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6078" y="6175504"/>
            <a:ext cx="5161154" cy="441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Store-wise Sales Data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0544" y="4965051"/>
            <a:ext cx="5161154" cy="441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 store Id</a:t>
            </a:r>
          </a:p>
        </p:txBody>
      </p:sp>
      <p:sp>
        <p:nvSpPr>
          <p:cNvPr id="14" name="Freeform 14"/>
          <p:cNvSpPr/>
          <p:nvPr/>
        </p:nvSpPr>
        <p:spPr>
          <a:xfrm>
            <a:off x="800544" y="7281697"/>
            <a:ext cx="5161154" cy="581803"/>
          </a:xfrm>
          <a:custGeom>
            <a:avLst/>
            <a:gdLst/>
            <a:ahLst/>
            <a:cxnLst/>
            <a:rect l="l" t="t" r="r" b="b"/>
            <a:pathLst>
              <a:path w="5161154" h="581803">
                <a:moveTo>
                  <a:pt x="0" y="0"/>
                </a:moveTo>
                <a:lnTo>
                  <a:pt x="5161153" y="0"/>
                </a:lnTo>
                <a:lnTo>
                  <a:pt x="5161153" y="581803"/>
                </a:lnTo>
                <a:lnTo>
                  <a:pt x="0" y="581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084201" y="7329064"/>
            <a:ext cx="3209925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City Dashboard Insights</a:t>
            </a:r>
          </a:p>
        </p:txBody>
      </p:sp>
      <p:sp>
        <p:nvSpPr>
          <p:cNvPr id="16" name="Freeform 16"/>
          <p:cNvSpPr/>
          <p:nvPr/>
        </p:nvSpPr>
        <p:spPr>
          <a:xfrm>
            <a:off x="3028799" y="3103466"/>
            <a:ext cx="551068" cy="881709"/>
          </a:xfrm>
          <a:custGeom>
            <a:avLst/>
            <a:gdLst/>
            <a:ahLst/>
            <a:cxnLst/>
            <a:rect l="l" t="t" r="r" b="b"/>
            <a:pathLst>
              <a:path w="551068" h="881709">
                <a:moveTo>
                  <a:pt x="0" y="0"/>
                </a:moveTo>
                <a:lnTo>
                  <a:pt x="551068" y="0"/>
                </a:lnTo>
                <a:lnTo>
                  <a:pt x="551068" y="881709"/>
                </a:lnTo>
                <a:lnTo>
                  <a:pt x="0" y="8817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105586" y="5518279"/>
            <a:ext cx="551068" cy="881709"/>
          </a:xfrm>
          <a:custGeom>
            <a:avLst/>
            <a:gdLst/>
            <a:ahLst/>
            <a:cxnLst/>
            <a:rect l="l" t="t" r="r" b="b"/>
            <a:pathLst>
              <a:path w="551068" h="881709">
                <a:moveTo>
                  <a:pt x="0" y="0"/>
                </a:moveTo>
                <a:lnTo>
                  <a:pt x="551069" y="0"/>
                </a:lnTo>
                <a:lnTo>
                  <a:pt x="551069" y="881709"/>
                </a:lnTo>
                <a:lnTo>
                  <a:pt x="0" y="8817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3030094" y="4307826"/>
            <a:ext cx="551068" cy="881709"/>
          </a:xfrm>
          <a:custGeom>
            <a:avLst/>
            <a:gdLst/>
            <a:ahLst/>
            <a:cxnLst/>
            <a:rect l="l" t="t" r="r" b="b"/>
            <a:pathLst>
              <a:path w="551068" h="881709">
                <a:moveTo>
                  <a:pt x="0" y="0"/>
                </a:moveTo>
                <a:lnTo>
                  <a:pt x="551068" y="0"/>
                </a:lnTo>
                <a:lnTo>
                  <a:pt x="551068" y="881709"/>
                </a:lnTo>
                <a:lnTo>
                  <a:pt x="0" y="8817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138095" y="6690889"/>
            <a:ext cx="551068" cy="881709"/>
          </a:xfrm>
          <a:custGeom>
            <a:avLst/>
            <a:gdLst/>
            <a:ahLst/>
            <a:cxnLst/>
            <a:rect l="l" t="t" r="r" b="b"/>
            <a:pathLst>
              <a:path w="551068" h="881709">
                <a:moveTo>
                  <a:pt x="0" y="0"/>
                </a:moveTo>
                <a:lnTo>
                  <a:pt x="551068" y="0"/>
                </a:lnTo>
                <a:lnTo>
                  <a:pt x="551068" y="881709"/>
                </a:lnTo>
                <a:lnTo>
                  <a:pt x="0" y="8817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7674521" y="2299716"/>
            <a:ext cx="10943345" cy="6505211"/>
          </a:xfrm>
          <a:custGeom>
            <a:avLst/>
            <a:gdLst/>
            <a:ahLst/>
            <a:cxnLst/>
            <a:rect l="l" t="t" r="r" b="b"/>
            <a:pathLst>
              <a:path w="10943345" h="6505211">
                <a:moveTo>
                  <a:pt x="0" y="0"/>
                </a:moveTo>
                <a:lnTo>
                  <a:pt x="10943345" y="0"/>
                </a:lnTo>
                <a:lnTo>
                  <a:pt x="10943345" y="6505211"/>
                </a:lnTo>
                <a:lnTo>
                  <a:pt x="0" y="650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22086" y="498648"/>
            <a:ext cx="9916716" cy="1326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93"/>
              </a:lnSpc>
            </a:pPr>
            <a:r>
              <a:rPr lang="en-US" sz="9357" b="1" spc="-36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City Dashboard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-276479" y="2520836"/>
            <a:ext cx="7315200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City Selection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01891"/>
            <a:ext cx="4909470" cy="1270564"/>
            <a:chOff x="0" y="0"/>
            <a:chExt cx="1293029" cy="3346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3029" cy="334634"/>
            </a:xfrm>
            <a:custGeom>
              <a:avLst/>
              <a:gdLst/>
              <a:ahLst/>
              <a:cxnLst/>
              <a:rect l="l" t="t" r="r" b="b"/>
              <a:pathLst>
                <a:path w="1293029" h="334634">
                  <a:moveTo>
                    <a:pt x="157694" y="0"/>
                  </a:moveTo>
                  <a:lnTo>
                    <a:pt x="1135336" y="0"/>
                  </a:lnTo>
                  <a:cubicBezTo>
                    <a:pt x="1222427" y="0"/>
                    <a:pt x="1293029" y="70602"/>
                    <a:pt x="1293029" y="157694"/>
                  </a:cubicBezTo>
                  <a:lnTo>
                    <a:pt x="1293029" y="176941"/>
                  </a:lnTo>
                  <a:cubicBezTo>
                    <a:pt x="1293029" y="218764"/>
                    <a:pt x="1276415" y="258874"/>
                    <a:pt x="1246842" y="288447"/>
                  </a:cubicBezTo>
                  <a:cubicBezTo>
                    <a:pt x="1217269" y="318020"/>
                    <a:pt x="1177159" y="334634"/>
                    <a:pt x="1135336" y="334634"/>
                  </a:cubicBezTo>
                  <a:lnTo>
                    <a:pt x="157694" y="334634"/>
                  </a:lnTo>
                  <a:cubicBezTo>
                    <a:pt x="70602" y="334634"/>
                    <a:pt x="0" y="264032"/>
                    <a:pt x="0" y="176941"/>
                  </a:cubicBezTo>
                  <a:lnTo>
                    <a:pt x="0" y="157694"/>
                  </a:lnTo>
                  <a:cubicBezTo>
                    <a:pt x="0" y="115871"/>
                    <a:pt x="16614" y="75761"/>
                    <a:pt x="46187" y="46187"/>
                  </a:cubicBezTo>
                  <a:cubicBezTo>
                    <a:pt x="75761" y="16614"/>
                    <a:pt x="115871" y="0"/>
                    <a:pt x="157694" y="0"/>
                  </a:cubicBez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93029" cy="382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506163" y="7189389"/>
            <a:ext cx="3513133" cy="3532401"/>
          </a:xfrm>
          <a:custGeom>
            <a:avLst/>
            <a:gdLst/>
            <a:ahLst/>
            <a:cxnLst/>
            <a:rect l="l" t="t" r="r" b="b"/>
            <a:pathLst>
              <a:path w="3513133" h="3532401">
                <a:moveTo>
                  <a:pt x="0" y="0"/>
                </a:moveTo>
                <a:lnTo>
                  <a:pt x="3513134" y="0"/>
                </a:lnTo>
                <a:lnTo>
                  <a:pt x="3513134" y="3532401"/>
                </a:lnTo>
                <a:lnTo>
                  <a:pt x="0" y="3532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03442" y="7233664"/>
            <a:ext cx="3513133" cy="3532401"/>
          </a:xfrm>
          <a:custGeom>
            <a:avLst/>
            <a:gdLst/>
            <a:ahLst/>
            <a:cxnLst/>
            <a:rect l="l" t="t" r="r" b="b"/>
            <a:pathLst>
              <a:path w="3513133" h="3532401">
                <a:moveTo>
                  <a:pt x="0" y="0"/>
                </a:moveTo>
                <a:lnTo>
                  <a:pt x="3513133" y="0"/>
                </a:lnTo>
                <a:lnTo>
                  <a:pt x="3513133" y="3532401"/>
                </a:lnTo>
                <a:lnTo>
                  <a:pt x="0" y="3532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271703" y="2884684"/>
            <a:ext cx="3637767" cy="4517632"/>
            <a:chOff x="0" y="0"/>
            <a:chExt cx="958095" cy="11898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8095" cy="1189829"/>
            </a:xfrm>
            <a:custGeom>
              <a:avLst/>
              <a:gdLst/>
              <a:ahLst/>
              <a:cxnLst/>
              <a:rect l="l" t="t" r="r" b="b"/>
              <a:pathLst>
                <a:path w="958095" h="1189829">
                  <a:moveTo>
                    <a:pt x="108539" y="0"/>
                  </a:moveTo>
                  <a:lnTo>
                    <a:pt x="849556" y="0"/>
                  </a:lnTo>
                  <a:cubicBezTo>
                    <a:pt x="878343" y="0"/>
                    <a:pt x="905950" y="11435"/>
                    <a:pt x="926305" y="31790"/>
                  </a:cubicBezTo>
                  <a:cubicBezTo>
                    <a:pt x="946660" y="52145"/>
                    <a:pt x="958095" y="79752"/>
                    <a:pt x="958095" y="108539"/>
                  </a:cubicBezTo>
                  <a:lnTo>
                    <a:pt x="958095" y="1081290"/>
                  </a:lnTo>
                  <a:cubicBezTo>
                    <a:pt x="958095" y="1110077"/>
                    <a:pt x="946660" y="1137684"/>
                    <a:pt x="926305" y="1158039"/>
                  </a:cubicBezTo>
                  <a:cubicBezTo>
                    <a:pt x="905950" y="1178394"/>
                    <a:pt x="878343" y="1189829"/>
                    <a:pt x="849556" y="1189829"/>
                  </a:cubicBezTo>
                  <a:lnTo>
                    <a:pt x="108539" y="1189829"/>
                  </a:lnTo>
                  <a:cubicBezTo>
                    <a:pt x="79752" y="1189829"/>
                    <a:pt x="52145" y="1178394"/>
                    <a:pt x="31790" y="1158039"/>
                  </a:cubicBezTo>
                  <a:cubicBezTo>
                    <a:pt x="11435" y="1137684"/>
                    <a:pt x="0" y="1110077"/>
                    <a:pt x="0" y="1081290"/>
                  </a:cubicBezTo>
                  <a:lnTo>
                    <a:pt x="0" y="108539"/>
                  </a:lnTo>
                  <a:cubicBezTo>
                    <a:pt x="0" y="79752"/>
                    <a:pt x="11435" y="52145"/>
                    <a:pt x="31790" y="31790"/>
                  </a:cubicBezTo>
                  <a:cubicBezTo>
                    <a:pt x="52145" y="11435"/>
                    <a:pt x="79752" y="0"/>
                    <a:pt x="10853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8B681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958095" cy="1256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88933" y="2884684"/>
            <a:ext cx="3637767" cy="4517632"/>
            <a:chOff x="0" y="0"/>
            <a:chExt cx="958095" cy="11898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58095" cy="1189829"/>
            </a:xfrm>
            <a:custGeom>
              <a:avLst/>
              <a:gdLst/>
              <a:ahLst/>
              <a:cxnLst/>
              <a:rect l="l" t="t" r="r" b="b"/>
              <a:pathLst>
                <a:path w="958095" h="1189829">
                  <a:moveTo>
                    <a:pt x="108539" y="0"/>
                  </a:moveTo>
                  <a:lnTo>
                    <a:pt x="849556" y="0"/>
                  </a:lnTo>
                  <a:cubicBezTo>
                    <a:pt x="878343" y="0"/>
                    <a:pt x="905950" y="11435"/>
                    <a:pt x="926305" y="31790"/>
                  </a:cubicBezTo>
                  <a:cubicBezTo>
                    <a:pt x="946660" y="52145"/>
                    <a:pt x="958095" y="79752"/>
                    <a:pt x="958095" y="108539"/>
                  </a:cubicBezTo>
                  <a:lnTo>
                    <a:pt x="958095" y="1081290"/>
                  </a:lnTo>
                  <a:cubicBezTo>
                    <a:pt x="958095" y="1110077"/>
                    <a:pt x="946660" y="1137684"/>
                    <a:pt x="926305" y="1158039"/>
                  </a:cubicBezTo>
                  <a:cubicBezTo>
                    <a:pt x="905950" y="1178394"/>
                    <a:pt x="878343" y="1189829"/>
                    <a:pt x="849556" y="1189829"/>
                  </a:cubicBezTo>
                  <a:lnTo>
                    <a:pt x="108539" y="1189829"/>
                  </a:lnTo>
                  <a:cubicBezTo>
                    <a:pt x="79752" y="1189829"/>
                    <a:pt x="52145" y="1178394"/>
                    <a:pt x="31790" y="1158039"/>
                  </a:cubicBezTo>
                  <a:cubicBezTo>
                    <a:pt x="11435" y="1137684"/>
                    <a:pt x="0" y="1110077"/>
                    <a:pt x="0" y="1081290"/>
                  </a:cubicBezTo>
                  <a:lnTo>
                    <a:pt x="0" y="108539"/>
                  </a:lnTo>
                  <a:cubicBezTo>
                    <a:pt x="0" y="79752"/>
                    <a:pt x="11435" y="52145"/>
                    <a:pt x="31790" y="31790"/>
                  </a:cubicBezTo>
                  <a:cubicBezTo>
                    <a:pt x="52145" y="11435"/>
                    <a:pt x="79752" y="0"/>
                    <a:pt x="10853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8B681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958095" cy="1256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717753" y="4060465"/>
            <a:ext cx="2752443" cy="3173199"/>
          </a:xfrm>
          <a:custGeom>
            <a:avLst/>
            <a:gdLst/>
            <a:ahLst/>
            <a:cxnLst/>
            <a:rect l="l" t="t" r="r" b="b"/>
            <a:pathLst>
              <a:path w="2752443" h="3173199">
                <a:moveTo>
                  <a:pt x="0" y="0"/>
                </a:moveTo>
                <a:lnTo>
                  <a:pt x="2752444" y="0"/>
                </a:lnTo>
                <a:lnTo>
                  <a:pt x="2752444" y="3173199"/>
                </a:lnTo>
                <a:lnTo>
                  <a:pt x="0" y="3173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566419" y="4060465"/>
            <a:ext cx="3697885" cy="2915895"/>
          </a:xfrm>
          <a:custGeom>
            <a:avLst/>
            <a:gdLst/>
            <a:ahLst/>
            <a:cxnLst/>
            <a:rect l="l" t="t" r="r" b="b"/>
            <a:pathLst>
              <a:path w="3697885" h="2915895">
                <a:moveTo>
                  <a:pt x="0" y="0"/>
                </a:moveTo>
                <a:lnTo>
                  <a:pt x="3697885" y="0"/>
                </a:lnTo>
                <a:lnTo>
                  <a:pt x="3697885" y="2915895"/>
                </a:lnTo>
                <a:lnTo>
                  <a:pt x="0" y="29158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535" t="-5467" r="-20458" b="-9472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19848" y="378091"/>
            <a:ext cx="7625572" cy="124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2"/>
              </a:lnSpc>
            </a:pPr>
            <a:r>
              <a:rPr lang="en-US" sz="8729" b="1" spc="-3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Scope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5316" y="3108390"/>
            <a:ext cx="3077319" cy="120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Best Supplier Identification 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626537" y="3108390"/>
            <a:ext cx="3637767" cy="120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Email and SMS Alerts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41854" y="7120591"/>
            <a:ext cx="2922209" cy="2938236"/>
          </a:xfrm>
          <a:custGeom>
            <a:avLst/>
            <a:gdLst/>
            <a:ahLst/>
            <a:cxnLst/>
            <a:rect l="l" t="t" r="r" b="b"/>
            <a:pathLst>
              <a:path w="2922209" h="2938236">
                <a:moveTo>
                  <a:pt x="0" y="0"/>
                </a:moveTo>
                <a:lnTo>
                  <a:pt x="2922209" y="0"/>
                </a:lnTo>
                <a:lnTo>
                  <a:pt x="2922209" y="2938236"/>
                </a:lnTo>
                <a:lnTo>
                  <a:pt x="0" y="2938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550494" y="7120591"/>
            <a:ext cx="2922209" cy="2938236"/>
          </a:xfrm>
          <a:custGeom>
            <a:avLst/>
            <a:gdLst/>
            <a:ahLst/>
            <a:cxnLst/>
            <a:rect l="l" t="t" r="r" b="b"/>
            <a:pathLst>
              <a:path w="2922209" h="2938236">
                <a:moveTo>
                  <a:pt x="0" y="0"/>
                </a:moveTo>
                <a:lnTo>
                  <a:pt x="2922209" y="0"/>
                </a:lnTo>
                <a:lnTo>
                  <a:pt x="2922209" y="2938236"/>
                </a:lnTo>
                <a:lnTo>
                  <a:pt x="0" y="2938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10312" y="86514"/>
            <a:ext cx="11636025" cy="2017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38"/>
              </a:lnSpc>
            </a:pPr>
            <a:r>
              <a:rPr lang="en-US" sz="14125" b="1" spc="-55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25953" y="9099550"/>
            <a:ext cx="1236093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spc="-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0312" y="2168054"/>
            <a:ext cx="17259300" cy="1608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Smart Stock Inventory Optimization System successfully demonstrates how data analytics and machine learning can improve inventory planning and decision-making in retail. By predicting demand, tracking stock levels in real time, and generating intelligent alerts, the system minimizes stock-outs and overstocking issues. The integration of dashboards, role-based access, and an AI-powered chatbot enhances usability and operational efficiency. Overall, this project provides a scalable, practical, and data-driven solution for modern inventory management.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75077" y="857885"/>
            <a:ext cx="2922209" cy="2938236"/>
          </a:xfrm>
          <a:custGeom>
            <a:avLst/>
            <a:gdLst/>
            <a:ahLst/>
            <a:cxnLst/>
            <a:rect l="l" t="t" r="r" b="b"/>
            <a:pathLst>
              <a:path w="2922209" h="2938236">
                <a:moveTo>
                  <a:pt x="0" y="0"/>
                </a:moveTo>
                <a:lnTo>
                  <a:pt x="2922209" y="0"/>
                </a:lnTo>
                <a:lnTo>
                  <a:pt x="2922209" y="2938236"/>
                </a:lnTo>
                <a:lnTo>
                  <a:pt x="0" y="2938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262174" y="894713"/>
            <a:ext cx="2922209" cy="2938236"/>
          </a:xfrm>
          <a:custGeom>
            <a:avLst/>
            <a:gdLst/>
            <a:ahLst/>
            <a:cxnLst/>
            <a:rect l="l" t="t" r="r" b="b"/>
            <a:pathLst>
              <a:path w="2922209" h="2938236">
                <a:moveTo>
                  <a:pt x="0" y="0"/>
                </a:moveTo>
                <a:lnTo>
                  <a:pt x="2922210" y="0"/>
                </a:lnTo>
                <a:lnTo>
                  <a:pt x="2922210" y="2938236"/>
                </a:lnTo>
                <a:lnTo>
                  <a:pt x="0" y="2938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58327" y="3728239"/>
            <a:ext cx="11636025" cy="3989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38"/>
              </a:lnSpc>
            </a:pPr>
            <a:r>
              <a:rPr lang="en-US" sz="14125" b="1" spc="-55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Thank </a:t>
            </a:r>
          </a:p>
          <a:p>
            <a:pPr algn="l">
              <a:lnSpc>
                <a:spcPts val="15538"/>
              </a:lnSpc>
            </a:pPr>
            <a:r>
              <a:rPr lang="en-US" sz="14125" b="1" spc="-55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          You..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558911" y="1209675"/>
            <a:ext cx="3911366" cy="103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sz="2499" b="1" spc="-9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BUILDING A FUTURE OF EFFICIENT AND SUSTAINABLE  STOCKS.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25953" y="9099550"/>
            <a:ext cx="1236093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spc="-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639</Words>
  <Application>Microsoft Office PowerPoint</Application>
  <PresentationFormat>Custom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Montserrat Bold</vt:lpstr>
      <vt:lpstr>Times New Roman</vt:lpstr>
      <vt:lpstr>Calibri</vt:lpstr>
      <vt:lpstr>Arial</vt:lpstr>
      <vt:lpstr>Archivo Black</vt:lpstr>
      <vt:lpstr>Times New Roman 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Stock Inventory Optimization for Retail Stores</dc:title>
  <cp:lastModifiedBy>potuvaishnavi@gmail.com</cp:lastModifiedBy>
  <cp:revision>2</cp:revision>
  <dcterms:created xsi:type="dcterms:W3CDTF">2006-08-16T00:00:00Z</dcterms:created>
  <dcterms:modified xsi:type="dcterms:W3CDTF">2026-01-09T14:25:16Z</dcterms:modified>
  <dc:identifier>DAG9DsNh-KI</dc:identifier>
</cp:coreProperties>
</file>